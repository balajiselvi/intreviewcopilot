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1" r:id="rId4"/>
  </p:sldMasterIdLst>
  <p:notesMasterIdLst>
    <p:notesMasterId r:id="rId21"/>
  </p:notesMasterIdLst>
  <p:sldIdLst>
    <p:sldId id="7356" r:id="rId5"/>
    <p:sldId id="7361" r:id="rId6"/>
    <p:sldId id="2147474989" r:id="rId7"/>
    <p:sldId id="2147474999" r:id="rId8"/>
    <p:sldId id="2147475004" r:id="rId9"/>
    <p:sldId id="2147475005" r:id="rId10"/>
    <p:sldId id="2147475006" r:id="rId11"/>
    <p:sldId id="2147475007" r:id="rId12"/>
    <p:sldId id="2147475002" r:id="rId13"/>
    <p:sldId id="2147475003" r:id="rId14"/>
    <p:sldId id="2147475000" r:id="rId15"/>
    <p:sldId id="2147475008" r:id="rId16"/>
    <p:sldId id="2147475009" r:id="rId17"/>
    <p:sldId id="2147475010" r:id="rId18"/>
    <p:sldId id="2147475011" r:id="rId19"/>
    <p:sldId id="2147475012" r:id="rId20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3AD"/>
    <a:srgbClr val="24FCA5"/>
    <a:srgbClr val="F2F2F2"/>
    <a:srgbClr val="7AD8FE"/>
    <a:srgbClr val="00B0EF"/>
    <a:srgbClr val="85A9BD"/>
    <a:srgbClr val="007DAA"/>
    <a:srgbClr val="005E7F"/>
    <a:srgbClr val="6B96AF"/>
    <a:srgbClr val="E0F4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22DCF8-7496-E6F4-8F7B-AB8AE5145D12}" v="90" dt="2025-03-05T23:26:55.310"/>
    <p1510:client id="{EA6F40CC-3D48-5047-E5B2-AC53DF4138B8}" v="46" dt="2025-03-05T22:53:2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irez, Ramses" userId="S::ramses.ramirez@harman.com::7873f320-4598-41f9-883f-f613578805c3" providerId="AD" clId="Web-{DB22DCF8-7496-E6F4-8F7B-AB8AE5145D12}"/>
    <pc:docChg chg="modSld">
      <pc:chgData name="Ramirez, Ramses" userId="S::ramses.ramirez@harman.com::7873f320-4598-41f9-883f-f613578805c3" providerId="AD" clId="Web-{DB22DCF8-7496-E6F4-8F7B-AB8AE5145D12}" dt="2025-03-05T23:26:48.982" v="86"/>
      <pc:docMkLst>
        <pc:docMk/>
      </pc:docMkLst>
      <pc:sldChg chg="modSp">
        <pc:chgData name="Ramirez, Ramses" userId="S::ramses.ramirez@harman.com::7873f320-4598-41f9-883f-f613578805c3" providerId="AD" clId="Web-{DB22DCF8-7496-E6F4-8F7B-AB8AE5145D12}" dt="2025-03-05T23:26:48.982" v="86"/>
        <pc:sldMkLst>
          <pc:docMk/>
          <pc:sldMk cId="1108681373" sldId="2147475010"/>
        </pc:sldMkLst>
        <pc:graphicFrameChg chg="mod modGraphic">
          <ac:chgData name="Ramirez, Ramses" userId="S::ramses.ramirez@harman.com::7873f320-4598-41f9-883f-f613578805c3" providerId="AD" clId="Web-{DB22DCF8-7496-E6F4-8F7B-AB8AE5145D12}" dt="2025-03-05T23:26:48.982" v="86"/>
          <ac:graphicFrameMkLst>
            <pc:docMk/>
            <pc:sldMk cId="1108681373" sldId="2147475010"/>
            <ac:graphicFrameMk id="5" creationId="{E492BDD4-E39D-1E63-EEFC-40EF02F9B6D8}"/>
          </ac:graphicFrameMkLst>
        </pc:graphicFrameChg>
      </pc:sldChg>
    </pc:docChg>
  </pc:docChgLst>
  <pc:docChgLst>
    <pc:chgData name="Kondreddi, Rajkumar" userId="S::rajkumar.kondreddi@harman.com::f3c83dd0-1e20-493c-b292-b963f5a35199" providerId="AD" clId="Web-{AFB7E740-BBA6-F51A-EAF6-71C3975CEA90}"/>
    <pc:docChg chg="modSld">
      <pc:chgData name="Kondreddi, Rajkumar" userId="S::rajkumar.kondreddi@harman.com::f3c83dd0-1e20-493c-b292-b963f5a35199" providerId="AD" clId="Web-{AFB7E740-BBA6-F51A-EAF6-71C3975CEA90}" dt="2025-02-28T15:43:16.544" v="134" actId="20577"/>
      <pc:docMkLst>
        <pc:docMk/>
      </pc:docMkLst>
      <pc:sldChg chg="modSp">
        <pc:chgData name="Kondreddi, Rajkumar" userId="S::rajkumar.kondreddi@harman.com::f3c83dd0-1e20-493c-b292-b963f5a35199" providerId="AD" clId="Web-{AFB7E740-BBA6-F51A-EAF6-71C3975CEA90}" dt="2025-02-28T15:43:16.544" v="134" actId="20577"/>
        <pc:sldMkLst>
          <pc:docMk/>
          <pc:sldMk cId="2654916834" sldId="2147475002"/>
        </pc:sldMkLst>
        <pc:spChg chg="mod">
          <ac:chgData name="Kondreddi, Rajkumar" userId="S::rajkumar.kondreddi@harman.com::f3c83dd0-1e20-493c-b292-b963f5a35199" providerId="AD" clId="Web-{AFB7E740-BBA6-F51A-EAF6-71C3975CEA90}" dt="2025-02-28T15:43:16.544" v="134" actId="20577"/>
          <ac:spMkLst>
            <pc:docMk/>
            <pc:sldMk cId="2654916834" sldId="2147475002"/>
            <ac:spMk id="5" creationId="{C32ACEE7-A6B7-6831-DA6D-21303B5A49D4}"/>
          </ac:spMkLst>
        </pc:spChg>
      </pc:sldChg>
    </pc:docChg>
  </pc:docChgLst>
  <pc:docChgLst>
    <pc:chgData name="Ramirez, Ramses" userId="S::ramses.ramirez@harman.com::7873f320-4598-41f9-883f-f613578805c3" providerId="AD" clId="Web-{EA6F40CC-3D48-5047-E5B2-AC53DF4138B8}"/>
    <pc:docChg chg="modSld">
      <pc:chgData name="Ramirez, Ramses" userId="S::ramses.ramirez@harman.com::7873f320-4598-41f9-883f-f613578805c3" providerId="AD" clId="Web-{EA6F40CC-3D48-5047-E5B2-AC53DF4138B8}" dt="2025-03-05T22:53:26.122" v="23" actId="20577"/>
      <pc:docMkLst>
        <pc:docMk/>
      </pc:docMkLst>
      <pc:sldChg chg="modSp">
        <pc:chgData name="Ramirez, Ramses" userId="S::ramses.ramirez@harman.com::7873f320-4598-41f9-883f-f613578805c3" providerId="AD" clId="Web-{EA6F40CC-3D48-5047-E5B2-AC53DF4138B8}" dt="2025-03-05T22:53:26.122" v="23" actId="20577"/>
        <pc:sldMkLst>
          <pc:docMk/>
          <pc:sldMk cId="790544140" sldId="2147475011"/>
        </pc:sldMkLst>
        <pc:spChg chg="mod">
          <ac:chgData name="Ramirez, Ramses" userId="S::ramses.ramirez@harman.com::7873f320-4598-41f9-883f-f613578805c3" providerId="AD" clId="Web-{EA6F40CC-3D48-5047-E5B2-AC53DF4138B8}" dt="2025-03-05T22:53:26.122" v="23" actId="20577"/>
          <ac:spMkLst>
            <pc:docMk/>
            <pc:sldMk cId="790544140" sldId="2147475011"/>
            <ac:spMk id="3" creationId="{BC3FA065-140D-9A3C-BD62-1939B1734282}"/>
          </ac:spMkLst>
        </pc:spChg>
      </pc:sldChg>
    </pc:docChg>
  </pc:docChgLst>
  <pc:docChgLst>
    <pc:chgData name="Ramirez, Ramses" userId="S::ramses.ramirez@harman.com::7873f320-4598-41f9-883f-f613578805c3" providerId="AD" clId="Web-{09DA30A5-75E2-6D79-01C8-CDF97D3D48A4}"/>
    <pc:docChg chg="modSld">
      <pc:chgData name="Ramirez, Ramses" userId="S::ramses.ramirez@harman.com::7873f320-4598-41f9-883f-f613578805c3" providerId="AD" clId="Web-{09DA30A5-75E2-6D79-01C8-CDF97D3D48A4}" dt="2025-02-28T23:02:25.655" v="26" actId="20577"/>
      <pc:docMkLst>
        <pc:docMk/>
      </pc:docMkLst>
      <pc:sldChg chg="modSp">
        <pc:chgData name="Ramirez, Ramses" userId="S::ramses.ramirez@harman.com::7873f320-4598-41f9-883f-f613578805c3" providerId="AD" clId="Web-{09DA30A5-75E2-6D79-01C8-CDF97D3D48A4}" dt="2025-02-28T23:02:25.655" v="26" actId="20577"/>
        <pc:sldMkLst>
          <pc:docMk/>
          <pc:sldMk cId="790544140" sldId="2147475011"/>
        </pc:sldMkLst>
        <pc:spChg chg="mod">
          <ac:chgData name="Ramirez, Ramses" userId="S::ramses.ramirez@harman.com::7873f320-4598-41f9-883f-f613578805c3" providerId="AD" clId="Web-{09DA30A5-75E2-6D79-01C8-CDF97D3D48A4}" dt="2025-02-28T23:02:25.655" v="26" actId="20577"/>
          <ac:spMkLst>
            <pc:docMk/>
            <pc:sldMk cId="790544140" sldId="2147475011"/>
            <ac:spMk id="3" creationId="{BC3FA065-140D-9A3C-BD62-1939B1734282}"/>
          </ac:spMkLst>
        </pc:spChg>
      </pc:sldChg>
    </pc:docChg>
  </pc:docChgLst>
  <pc:docChgLst>
    <pc:chgData name="Ramirez, Ramses" userId="S::ramses.ramirez@harman.com::7873f320-4598-41f9-883f-f613578805c3" providerId="AD" clId="Web-{6CDFD869-AC98-162F-E8C8-E312724D695C}"/>
    <pc:docChg chg="addSld modSld sldOrd">
      <pc:chgData name="Ramirez, Ramses" userId="S::ramses.ramirez@harman.com::7873f320-4598-41f9-883f-f613578805c3" providerId="AD" clId="Web-{6CDFD869-AC98-162F-E8C8-E312724D695C}" dt="2025-03-03T23:19:18.382" v="40"/>
      <pc:docMkLst>
        <pc:docMk/>
      </pc:docMkLst>
      <pc:sldChg chg="addSp delSp modSp new ord">
        <pc:chgData name="Ramirez, Ramses" userId="S::ramses.ramirez@harman.com::7873f320-4598-41f9-883f-f613578805c3" providerId="AD" clId="Web-{6CDFD869-AC98-162F-E8C8-E312724D695C}" dt="2025-03-03T23:19:18.382" v="40"/>
        <pc:sldMkLst>
          <pc:docMk/>
          <pc:sldMk cId="1991014895" sldId="2147475012"/>
        </pc:sldMkLst>
        <pc:spChg chg="mod">
          <ac:chgData name="Ramirez, Ramses" userId="S::ramses.ramirez@harman.com::7873f320-4598-41f9-883f-f613578805c3" providerId="AD" clId="Web-{6CDFD869-AC98-162F-E8C8-E312724D695C}" dt="2025-03-03T22:42:56.225" v="21" actId="20577"/>
          <ac:spMkLst>
            <pc:docMk/>
            <pc:sldMk cId="1991014895" sldId="2147475012"/>
            <ac:spMk id="2" creationId="{13508371-6608-FC08-31F4-F422D933436B}"/>
          </ac:spMkLst>
        </pc:spChg>
        <pc:spChg chg="add del mod">
          <ac:chgData name="Ramirez, Ramses" userId="S::ramses.ramirez@harman.com::7873f320-4598-41f9-883f-f613578805c3" providerId="AD" clId="Web-{6CDFD869-AC98-162F-E8C8-E312724D695C}" dt="2025-03-03T22:43:01.600" v="25"/>
          <ac:spMkLst>
            <pc:docMk/>
            <pc:sldMk cId="1991014895" sldId="2147475012"/>
            <ac:spMk id="4" creationId="{A8EFE76C-71C5-968D-31C5-2DACB582E124}"/>
          </ac:spMkLst>
        </pc:spChg>
        <pc:spChg chg="add mod">
          <ac:chgData name="Ramirez, Ramses" userId="S::ramses.ramirez@harman.com::7873f320-4598-41f9-883f-f613578805c3" providerId="AD" clId="Web-{6CDFD869-AC98-162F-E8C8-E312724D695C}" dt="2025-03-03T22:45:20.797" v="39" actId="20577"/>
          <ac:spMkLst>
            <pc:docMk/>
            <pc:sldMk cId="1991014895" sldId="2147475012"/>
            <ac:spMk id="5" creationId="{C4112250-7C12-973A-242B-CB801464139F}"/>
          </ac:spMkLst>
        </pc:spChg>
      </pc:sldChg>
    </pc:docChg>
  </pc:docChgLst>
  <pc:docChgLst>
    <pc:chgData name="Kondreddi, Rajkumar" userId="S::rajkumar.kondreddi@harman.com::f3c83dd0-1e20-493c-b292-b963f5a35199" providerId="AD" clId="Web-{A2CF238F-04A3-63A7-178C-DEC8253B0166}"/>
    <pc:docChg chg="modSld">
      <pc:chgData name="Kondreddi, Rajkumar" userId="S::rajkumar.kondreddi@harman.com::f3c83dd0-1e20-493c-b292-b963f5a35199" providerId="AD" clId="Web-{A2CF238F-04A3-63A7-178C-DEC8253B0166}" dt="2025-02-28T15:44:51.180" v="5" actId="20577"/>
      <pc:docMkLst>
        <pc:docMk/>
      </pc:docMkLst>
      <pc:sldChg chg="modSp">
        <pc:chgData name="Kondreddi, Rajkumar" userId="S::rajkumar.kondreddi@harman.com::f3c83dd0-1e20-493c-b292-b963f5a35199" providerId="AD" clId="Web-{A2CF238F-04A3-63A7-178C-DEC8253B0166}" dt="2025-02-28T15:44:51.180" v="5" actId="20577"/>
        <pc:sldMkLst>
          <pc:docMk/>
          <pc:sldMk cId="2654916834" sldId="2147475002"/>
        </pc:sldMkLst>
        <pc:spChg chg="mod">
          <ac:chgData name="Kondreddi, Rajkumar" userId="S::rajkumar.kondreddi@harman.com::f3c83dd0-1e20-493c-b292-b963f5a35199" providerId="AD" clId="Web-{A2CF238F-04A3-63A7-178C-DEC8253B0166}" dt="2025-02-28T15:44:51.180" v="5" actId="20577"/>
          <ac:spMkLst>
            <pc:docMk/>
            <pc:sldMk cId="2654916834" sldId="2147475002"/>
            <ac:spMk id="5" creationId="{C32ACEE7-A6B7-6831-DA6D-21303B5A49D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C4EE50D0-B1CD-894C-A64F-3EE2BBE9DABB}" type="datetimeFigureOut">
              <a:rPr lang="en-GB" smtClean="0"/>
              <a:t>05/03/2025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7D75B968-5782-994A-88A5-1D906CC766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2983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5B968-5782-994A-88A5-1D906CC766F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4621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5B968-5782-994A-88A5-1D906CC766F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443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5B968-5782-994A-88A5-1D906CC766F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243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E43C8-4BC7-C952-536C-3689B2004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E3DF4A-CABA-9C05-10A8-009E198F8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7BC47-0AFC-AAA7-CFB0-8AC13F039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FDC7D-9469-D8A0-7FF8-A15325C28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5B968-5782-994A-88A5-1D906CC766F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5528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1DCA5-AD14-BC52-5CEA-13F0397B9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23AEF-7B06-EE60-20B4-44A5ED935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18325F-D88D-E677-1E20-89305B4C4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DCB4C-CD5E-D711-E780-971D5E75C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5B968-5782-994A-88A5-1D906CC766F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988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DFB87-1B0C-0D94-867E-327B4C869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8853E-3D54-B213-EC28-13004CDEB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75FD62-F486-61F7-B595-8254FD4C9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7A661-4601-4C7B-6497-A414DBF9D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5B968-5782-994A-88A5-1D906CC766F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2642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97E71-F4BA-B952-B75B-2A0E93501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F997C-B93A-172F-48B0-369A1D343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BC44BD-6527-FAA0-8463-F1DBA54C4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37B60-F893-6235-FBE8-4AD92C05C3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5B968-5782-994A-88A5-1D906CC766F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614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D082F-6795-81D3-A840-8802E7087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64C101-E802-1848-A814-9B027916E7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E2DDA9-2EC9-81E7-7EF1-B4E8FC61E4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75084-3511-259B-5786-732222271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5B968-5782-994A-88A5-1D906CC766F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5613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AE25B-166B-7FB4-B905-E7844229D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5F71F5-63DE-C014-5A75-5BF5CED40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AF8FCD-33DE-4712-495D-5F0AA1660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982DB-B3D7-738E-D737-862C4BBE2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5B968-5782-994A-88A5-1D906CC766F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5218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indoor&#10;&#10;Description automatically generated">
            <a:extLst>
              <a:ext uri="{FF2B5EF4-FFF2-40B4-BE49-F238E27FC236}">
                <a16:creationId xmlns:a16="http://schemas.microsoft.com/office/drawing/2014/main" id="{767F3AAA-15F3-4E87-9F9D-58A7CFB47B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F15CE8F-BC8D-409A-8B54-5BBC2EA713FE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C1AD904-5E68-43AE-8578-A96E7181E6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24201"/>
          <a:stretch>
            <a:fillRect/>
          </a:stretch>
        </p:blipFill>
        <p:spPr>
          <a:xfrm rot="20575935">
            <a:off x="3385471" y="2951055"/>
            <a:ext cx="9241473" cy="1580514"/>
          </a:xfrm>
          <a:custGeom>
            <a:avLst/>
            <a:gdLst>
              <a:gd name="connsiteX0" fmla="*/ 9241473 w 9241473"/>
              <a:gd name="connsiteY0" fmla="*/ 0 h 1580514"/>
              <a:gd name="connsiteX1" fmla="*/ 8756217 w 9241473"/>
              <a:gd name="connsiteY1" fmla="*/ 1580514 h 1580514"/>
              <a:gd name="connsiteX2" fmla="*/ 0 w 9241473"/>
              <a:gd name="connsiteY2" fmla="*/ 1580514 h 1580514"/>
              <a:gd name="connsiteX3" fmla="*/ 0 w 9241473"/>
              <a:gd name="connsiteY3" fmla="*/ 0 h 1580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473" h="1580514">
                <a:moveTo>
                  <a:pt x="9241473" y="0"/>
                </a:moveTo>
                <a:lnTo>
                  <a:pt x="8756217" y="1580514"/>
                </a:lnTo>
                <a:lnTo>
                  <a:pt x="0" y="158051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6" name="TextBox 33">
            <a:extLst>
              <a:ext uri="{FF2B5EF4-FFF2-40B4-BE49-F238E27FC236}">
                <a16:creationId xmlns:a16="http://schemas.microsoft.com/office/drawing/2014/main" id="{7DB42239-9E28-4E2B-90FB-920360201719}"/>
              </a:ext>
            </a:extLst>
          </p:cNvPr>
          <p:cNvSpPr/>
          <p:nvPr userDrawn="1"/>
        </p:nvSpPr>
        <p:spPr>
          <a:xfrm>
            <a:off x="444500" y="6400800"/>
            <a:ext cx="2484757" cy="266700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/>
          <a:lstStyle>
            <a:lvl1pPr marL="0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1pPr>
            <a:lvl2pPr marL="4556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2pPr>
            <a:lvl3pPr marL="9128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3pPr>
            <a:lvl4pPr marL="13700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4pPr>
            <a:lvl5pPr marL="18272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5pPr>
          </a:lstStyle>
          <a:p>
            <a:pPr lvl="0"/>
            <a:r>
              <a:rPr lang="en-GB" sz="933" b="0" i="0">
                <a:solidFill>
                  <a:schemeClr val="bg1"/>
                </a:solidFill>
                <a:latin typeface="Gill Sans MT" panose="020B0502020104020203" pitchFamily="34" charset="77"/>
              </a:rPr>
              <a:t>HARMAN INTERNATIONAL.</a:t>
            </a:r>
            <a:br>
              <a:rPr lang="en-GB" sz="933" b="0" i="0">
                <a:solidFill>
                  <a:schemeClr val="bg1"/>
                </a:solidFill>
                <a:latin typeface="Gill Sans MT" panose="020B0502020104020203" pitchFamily="34" charset="77"/>
              </a:rPr>
            </a:br>
            <a:r>
              <a:rPr lang="en-GB" sz="933" b="0" i="0">
                <a:solidFill>
                  <a:schemeClr val="bg1"/>
                </a:solidFill>
                <a:latin typeface="Gill Sans MT" panose="020B0502020104020203" pitchFamily="34" charset="77"/>
              </a:rPr>
              <a:t>CONFIDENTIAL COPYRIGHT 2020</a:t>
            </a:r>
            <a:endParaRPr lang="en-US" sz="933" b="0" i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59CABA7-1324-4BE8-9D72-2308692D7811}"/>
              </a:ext>
            </a:extLst>
          </p:cNvPr>
          <p:cNvSpPr/>
          <p:nvPr userDrawn="1"/>
        </p:nvSpPr>
        <p:spPr>
          <a:xfrm>
            <a:off x="1" y="2"/>
            <a:ext cx="8599283" cy="6857999"/>
          </a:xfrm>
          <a:custGeom>
            <a:avLst/>
            <a:gdLst>
              <a:gd name="connsiteX0" fmla="*/ 0 w 8599283"/>
              <a:gd name="connsiteY0" fmla="*/ 0 h 6857999"/>
              <a:gd name="connsiteX1" fmla="*/ 8599283 w 8599283"/>
              <a:gd name="connsiteY1" fmla="*/ 0 h 6857999"/>
              <a:gd name="connsiteX2" fmla="*/ 8441923 w 8599283"/>
              <a:gd name="connsiteY2" fmla="*/ 225529 h 6857999"/>
              <a:gd name="connsiteX3" fmla="*/ 7376308 w 8599283"/>
              <a:gd name="connsiteY3" fmla="*/ 2019937 h 6857999"/>
              <a:gd name="connsiteX4" fmla="*/ 6760330 w 8599283"/>
              <a:gd name="connsiteY4" fmla="*/ 3100744 h 6857999"/>
              <a:gd name="connsiteX5" fmla="*/ 3723810 w 8599283"/>
              <a:gd name="connsiteY5" fmla="*/ 6601522 h 6857999"/>
              <a:gd name="connsiteX6" fmla="*/ 3394583 w 8599283"/>
              <a:gd name="connsiteY6" fmla="*/ 6857999 h 6857999"/>
              <a:gd name="connsiteX7" fmla="*/ 0 w 8599283"/>
              <a:gd name="connsiteY7" fmla="*/ 6857999 h 6857999"/>
              <a:gd name="connsiteX8" fmla="*/ 0 w 8599283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99283" h="6857999">
                <a:moveTo>
                  <a:pt x="0" y="0"/>
                </a:moveTo>
                <a:lnTo>
                  <a:pt x="8599283" y="0"/>
                </a:lnTo>
                <a:lnTo>
                  <a:pt x="8441923" y="225529"/>
                </a:lnTo>
                <a:cubicBezTo>
                  <a:pt x="8054001" y="803325"/>
                  <a:pt x="7711582" y="1418026"/>
                  <a:pt x="7376308" y="2019937"/>
                </a:cubicBezTo>
                <a:cubicBezTo>
                  <a:pt x="7177319" y="2376875"/>
                  <a:pt x="6971641" y="2746310"/>
                  <a:pt x="6760330" y="3100744"/>
                </a:cubicBezTo>
                <a:cubicBezTo>
                  <a:pt x="5972153" y="4422668"/>
                  <a:pt x="4950525" y="5600487"/>
                  <a:pt x="3723810" y="6601522"/>
                </a:cubicBezTo>
                <a:lnTo>
                  <a:pt x="3394583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E3FF1E-0A7E-4A53-AFAF-3DC51263E244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68301" y="2567636"/>
            <a:ext cx="5634038" cy="1231106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4000" b="1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Cover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F914BF-7FFB-4D37-854C-086849539A74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68301" y="4128294"/>
            <a:ext cx="4178299" cy="76808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400" cap="all" baseline="0">
                <a:solidFill>
                  <a:schemeClr val="accent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</a:t>
            </a:r>
            <a:r>
              <a:rPr lang="en-US" err="1"/>
              <a:t>Subheader</a:t>
            </a:r>
            <a:endParaRPr lang="en-GB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AC0DDDE3-826D-4E63-9817-11004F16CD2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846" y="209561"/>
            <a:ext cx="1716743" cy="1004169"/>
          </a:xfrm>
          <a:prstGeom prst="rect">
            <a:avLst/>
          </a:prstGeom>
        </p:spPr>
      </p:pic>
      <p:sp>
        <p:nvSpPr>
          <p:cNvPr id="23" name="TextBox 33">
            <a:extLst>
              <a:ext uri="{FF2B5EF4-FFF2-40B4-BE49-F238E27FC236}">
                <a16:creationId xmlns:a16="http://schemas.microsoft.com/office/drawing/2014/main" id="{5CE5E9AF-F580-46D1-A963-7F68365A286F}"/>
              </a:ext>
            </a:extLst>
          </p:cNvPr>
          <p:cNvSpPr/>
          <p:nvPr userDrawn="1"/>
        </p:nvSpPr>
        <p:spPr>
          <a:xfrm>
            <a:off x="8102026" y="6543149"/>
            <a:ext cx="3534728" cy="123111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>
            <a:spAutoFit/>
          </a:bodyPr>
          <a:lstStyle>
            <a:lvl1pPr marL="0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1pPr>
            <a:lvl2pPr marL="4556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2pPr>
            <a:lvl3pPr marL="9128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3pPr>
            <a:lvl4pPr marL="13700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4pPr>
            <a:lvl5pPr marL="18272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5pPr>
          </a:lstStyle>
          <a:p>
            <a:pPr lvl="0" algn="r"/>
            <a:r>
              <a:rPr lang="en-GB" sz="800" b="0" i="0" dirty="0">
                <a:solidFill>
                  <a:schemeClr val="bg1"/>
                </a:solidFill>
                <a:latin typeface="Gill Sans MT" panose="020B0502020104020203" pitchFamily="34" charset="77"/>
              </a:rPr>
              <a:t>HARMAN INTERNATIONAL CONFIDENTIAL COPYRIGHT 2023</a:t>
            </a:r>
            <a:endParaRPr lang="en-US" sz="800" b="0" i="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B534DD3-51BD-44A2-8C6C-051C03D92C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8300" y="4974510"/>
            <a:ext cx="4178300" cy="246221"/>
          </a:xfrm>
        </p:spPr>
        <p:txBody>
          <a:bodyPr>
            <a:spAutoFit/>
          </a:bodyPr>
          <a:lstStyle>
            <a:lvl1pPr marL="0" algn="l" defTabSz="914400" rtl="0" eaLnBrk="1" latinLnBrk="0" hangingPunct="1">
              <a:defRPr lang="en-US" sz="16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6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0" algn="l" defTabSz="914400" rtl="0" eaLnBrk="1" latinLnBrk="0" hangingPunct="1">
              <a:defRPr lang="en-US" sz="16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0" algn="l" defTabSz="914400" rtl="0" eaLnBrk="1" latinLnBrk="0" hangingPunct="1">
              <a:defRPr lang="en-US" sz="16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0" algn="l" defTabSz="914400" rtl="0" eaLnBrk="1" latinLnBrk="0" hangingPunct="1">
              <a:defRPr lang="en-GB" sz="16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407955892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lide w/ 1-line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5105454-2769-4048-91D6-1CB856695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8BA53AC-99B2-4FCA-8D26-995CF978B8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00" y="944563"/>
            <a:ext cx="9699625" cy="307777"/>
          </a:xfrm>
        </p:spPr>
        <p:txBody>
          <a:bodyPr>
            <a:spAutoFit/>
          </a:bodyPr>
          <a:lstStyle>
            <a:lvl1pPr>
              <a:spcAft>
                <a:spcPts val="0"/>
              </a:spcAft>
              <a:defRPr sz="2000">
                <a:solidFill>
                  <a:schemeClr val="tx2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FB5A68DA-0593-4435-9493-EE4CEAEFFC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0" y="209550"/>
            <a:ext cx="9699625" cy="211138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600" cap="all" baseline="0">
                <a:solidFill>
                  <a:schemeClr val="accent4"/>
                </a:solidFill>
              </a:defRPr>
            </a:lvl1pPr>
            <a:lvl2pPr>
              <a:buNone/>
              <a:defRPr sz="1400" cap="all" baseline="0">
                <a:solidFill>
                  <a:schemeClr val="accent4"/>
                </a:solidFill>
              </a:defRPr>
            </a:lvl2pPr>
          </a:lstStyle>
          <a:p>
            <a:pPr lvl="0"/>
            <a:r>
              <a:rPr lang="en-US"/>
              <a:t>Your section title here</a:t>
            </a:r>
            <a:endParaRPr lang="en-GB"/>
          </a:p>
        </p:txBody>
      </p:sp>
      <p:sp>
        <p:nvSpPr>
          <p:cNvPr id="31" name="Slide Number Placeholder 12">
            <a:extLst>
              <a:ext uri="{FF2B5EF4-FFF2-40B4-BE49-F238E27FC236}">
                <a16:creationId xmlns:a16="http://schemas.microsoft.com/office/drawing/2014/main" id="{208D60A1-BA19-4C40-BBE0-F02C0798270D}"/>
              </a:ext>
            </a:extLst>
          </p:cNvPr>
          <p:cNvSpPr/>
          <p:nvPr userDrawn="1"/>
        </p:nvSpPr>
        <p:spPr>
          <a:xfrm>
            <a:off x="11192405" y="6527761"/>
            <a:ext cx="632883" cy="138499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0" tIns="0" rIns="0" bIns="0" anchor="t" anchorCtr="0">
            <a:noAutofit/>
          </a:bodyPr>
          <a:lstStyle>
            <a:lvl1pPr marL="0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1pPr>
            <a:lvl2pPr marL="4556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2pPr>
            <a:lvl3pPr marL="9128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3pPr>
            <a:lvl4pPr marL="13700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4pPr>
            <a:lvl5pPr marL="18272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5pPr>
          </a:lstStyle>
          <a:p>
            <a:pPr marL="0" lvl="0" indent="0" algn="r" defTabSz="609570"/>
            <a:fld id="{038A6AB4-5F87-45F9-A0C2-53108FE3B773}" type="slidenum">
              <a:rPr lang="en-US" sz="800" b="0" i="0">
                <a:solidFill>
                  <a:schemeClr val="bg1">
                    <a:lumMod val="50000"/>
                  </a:schemeClr>
                </a:solidFill>
                <a:latin typeface="Gill Sans MT"/>
              </a:rPr>
              <a:pPr marL="0" lvl="0" indent="0" algn="r" defTabSz="609570"/>
              <a:t>‹#›</a:t>
            </a:fld>
            <a:endParaRPr lang="en-US" sz="800" b="0" i="0">
              <a:solidFill>
                <a:schemeClr val="bg1">
                  <a:lumMod val="50000"/>
                </a:schemeClr>
              </a:solidFill>
              <a:latin typeface="Gill Sans MT"/>
            </a:endParaRP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EF83DE12-527D-4630-96E2-7ED2A7408F7E}"/>
              </a:ext>
            </a:extLst>
          </p:cNvPr>
          <p:cNvSpPr/>
          <p:nvPr userDrawn="1"/>
        </p:nvSpPr>
        <p:spPr>
          <a:xfrm>
            <a:off x="368300" y="6529100"/>
            <a:ext cx="4527549" cy="137160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>
            <a:noAutofit/>
          </a:bodyPr>
          <a:lstStyle>
            <a:lvl1pPr marL="0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1pPr>
            <a:lvl2pPr marL="4556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2pPr>
            <a:lvl3pPr marL="9128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3pPr>
            <a:lvl4pPr marL="13700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4pPr>
            <a:lvl5pPr marL="18272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5pPr>
          </a:lstStyle>
          <a:p>
            <a:pPr lvl="0"/>
            <a:r>
              <a:rPr lang="en-GB" sz="800" b="0" i="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HARMAN INTERNATIONAL. CONFIDENTIAL COPYRIGHT 2023</a:t>
            </a:r>
            <a:endParaRPr lang="en-US" sz="800" b="0" i="0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E57FD143-717B-4420-A88B-D58D3F15D0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1445" y="305236"/>
            <a:ext cx="1432255" cy="837764"/>
          </a:xfrm>
          <a:prstGeom prst="rect">
            <a:avLst/>
          </a:prstGeom>
        </p:spPr>
      </p:pic>
      <p:sp>
        <p:nvSpPr>
          <p:cNvPr id="34" name="Footer Placeholder 15">
            <a:extLst>
              <a:ext uri="{FF2B5EF4-FFF2-40B4-BE49-F238E27FC236}">
                <a16:creationId xmlns:a16="http://schemas.microsoft.com/office/drawing/2014/main" id="{D95FE6AB-26ED-4EFC-9403-B7A35F41F3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300" y="6065838"/>
            <a:ext cx="5638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GB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386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5105454-2769-4048-91D6-1CB856695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FB5A68DA-0593-4435-9493-EE4CEAEFFC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0" y="209550"/>
            <a:ext cx="9699625" cy="211138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600" cap="all" baseline="0">
                <a:solidFill>
                  <a:schemeClr val="accent4"/>
                </a:solidFill>
              </a:defRPr>
            </a:lvl1pPr>
            <a:lvl2pPr>
              <a:buNone/>
              <a:defRPr sz="1400" cap="all" baseline="0">
                <a:solidFill>
                  <a:schemeClr val="accent4"/>
                </a:solidFill>
              </a:defRPr>
            </a:lvl2pPr>
          </a:lstStyle>
          <a:p>
            <a:pPr lvl="0"/>
            <a:r>
              <a:rPr lang="en-US"/>
              <a:t>Your section title here</a:t>
            </a:r>
            <a:endParaRPr lang="en-GB"/>
          </a:p>
        </p:txBody>
      </p:sp>
      <p:sp>
        <p:nvSpPr>
          <p:cNvPr id="31" name="Slide Number Placeholder 12">
            <a:extLst>
              <a:ext uri="{FF2B5EF4-FFF2-40B4-BE49-F238E27FC236}">
                <a16:creationId xmlns:a16="http://schemas.microsoft.com/office/drawing/2014/main" id="{208D60A1-BA19-4C40-BBE0-F02C0798270D}"/>
              </a:ext>
            </a:extLst>
          </p:cNvPr>
          <p:cNvSpPr/>
          <p:nvPr userDrawn="1"/>
        </p:nvSpPr>
        <p:spPr>
          <a:xfrm>
            <a:off x="11192405" y="6527761"/>
            <a:ext cx="632883" cy="138499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0" tIns="0" rIns="0" bIns="0" anchor="t" anchorCtr="0">
            <a:noAutofit/>
          </a:bodyPr>
          <a:lstStyle>
            <a:lvl1pPr marL="0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1pPr>
            <a:lvl2pPr marL="4556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2pPr>
            <a:lvl3pPr marL="9128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3pPr>
            <a:lvl4pPr marL="13700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4pPr>
            <a:lvl5pPr marL="18272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5pPr>
          </a:lstStyle>
          <a:p>
            <a:pPr marL="0" lvl="0" indent="0" algn="r" defTabSz="609570"/>
            <a:fld id="{038A6AB4-5F87-45F9-A0C2-53108FE3B773}" type="slidenum">
              <a:rPr lang="en-US" sz="800" b="0" i="0">
                <a:solidFill>
                  <a:schemeClr val="bg1">
                    <a:lumMod val="50000"/>
                  </a:schemeClr>
                </a:solidFill>
                <a:latin typeface="Gill Sans MT"/>
              </a:rPr>
              <a:pPr marL="0" lvl="0" indent="0" algn="r" defTabSz="609570"/>
              <a:t>‹#›</a:t>
            </a:fld>
            <a:endParaRPr lang="en-US" sz="800" b="0" i="0">
              <a:solidFill>
                <a:schemeClr val="bg1">
                  <a:lumMod val="50000"/>
                </a:schemeClr>
              </a:solidFill>
              <a:latin typeface="Gill Sans MT"/>
            </a:endParaRP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EF83DE12-527D-4630-96E2-7ED2A7408F7E}"/>
              </a:ext>
            </a:extLst>
          </p:cNvPr>
          <p:cNvSpPr/>
          <p:nvPr userDrawn="1"/>
        </p:nvSpPr>
        <p:spPr>
          <a:xfrm>
            <a:off x="368300" y="6529100"/>
            <a:ext cx="4527549" cy="137160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>
            <a:noAutofit/>
          </a:bodyPr>
          <a:lstStyle>
            <a:lvl1pPr marL="0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1pPr>
            <a:lvl2pPr marL="4556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2pPr>
            <a:lvl3pPr marL="9128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3pPr>
            <a:lvl4pPr marL="13700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4pPr>
            <a:lvl5pPr marL="18272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5pPr>
          </a:lstStyle>
          <a:p>
            <a:pPr lvl="0"/>
            <a:r>
              <a:rPr lang="en-GB" sz="800" b="0" i="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HARMAN INTERNATIONAL. CONFIDENTIAL COPYRIGHT 2023</a:t>
            </a:r>
            <a:endParaRPr lang="en-US" sz="800" b="0" i="0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E57FD143-717B-4420-A88B-D58D3F15D0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1445" y="305236"/>
            <a:ext cx="1432255" cy="837764"/>
          </a:xfrm>
          <a:prstGeom prst="rect">
            <a:avLst/>
          </a:prstGeom>
        </p:spPr>
      </p:pic>
      <p:sp>
        <p:nvSpPr>
          <p:cNvPr id="34" name="Footer Placeholder 15">
            <a:extLst>
              <a:ext uri="{FF2B5EF4-FFF2-40B4-BE49-F238E27FC236}">
                <a16:creationId xmlns:a16="http://schemas.microsoft.com/office/drawing/2014/main" id="{D95FE6AB-26ED-4EFC-9403-B7A35F41F3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300" y="6065838"/>
            <a:ext cx="5638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GB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96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TextBox 33"/>
          <p:cNvSpPr/>
          <p:nvPr/>
        </p:nvSpPr>
        <p:spPr>
          <a:xfrm>
            <a:off x="228600" y="6523567"/>
            <a:ext cx="4527549" cy="266700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/>
          <a:lstStyle>
            <a:lvl1pPr marL="0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1pPr>
            <a:lvl2pPr marL="4556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2pPr>
            <a:lvl3pPr marL="9128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3pPr>
            <a:lvl4pPr marL="13700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4pPr>
            <a:lvl5pPr marL="18272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5pPr>
          </a:lstStyle>
          <a:p>
            <a:pPr lvl="0"/>
            <a:r>
              <a:rPr lang="en-GB" sz="933" b="0" i="0">
                <a:solidFill>
                  <a:schemeClr val="bg1"/>
                </a:solidFill>
                <a:latin typeface="Gill Sans MT" panose="020B0502020104020203" pitchFamily="34" charset="77"/>
              </a:rPr>
              <a:t>HARMAN INTERNATIONAL. CONFIDENTIAL COPYRIGHT 2020</a:t>
            </a:r>
            <a:endParaRPr lang="en-US" sz="933" b="0" i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A248F92D-9D44-4047-B525-DA4AE2ED5C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07099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1067" b="0" i="0"/>
            </a:lvl1pPr>
          </a:lstStyle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4B8FE1-889E-48E4-985A-E49CF4AEB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1" y="468868"/>
            <a:ext cx="5270498" cy="4308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319A4CA9-B782-4323-97C5-C6483443DA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0" y="209550"/>
            <a:ext cx="5270499" cy="211138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600" cap="all" baseline="0">
                <a:solidFill>
                  <a:schemeClr val="accent4"/>
                </a:solidFill>
              </a:defRPr>
            </a:lvl1pPr>
            <a:lvl2pPr>
              <a:buNone/>
              <a:defRPr sz="1400" cap="all" baseline="0">
                <a:solidFill>
                  <a:schemeClr val="accent4"/>
                </a:solidFill>
              </a:defRPr>
            </a:lvl2pPr>
          </a:lstStyle>
          <a:p>
            <a:pPr lvl="0"/>
            <a:r>
              <a:rPr lang="en-US"/>
              <a:t>Your section title here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687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line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0286E4-0AC1-42D1-AB2B-C43A2D33CC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8300" y="468868"/>
            <a:ext cx="9699625" cy="86177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  <a:endParaRPr lang="en-GB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E834C16B-9B4A-45CD-B251-7C4D9C8FC9A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0" y="209550"/>
            <a:ext cx="9699625" cy="211138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600" cap="all" baseline="0">
                <a:solidFill>
                  <a:schemeClr val="accent4"/>
                </a:solidFill>
              </a:defRPr>
            </a:lvl1pPr>
            <a:lvl2pPr>
              <a:buNone/>
              <a:defRPr sz="1400" cap="all" baseline="0">
                <a:solidFill>
                  <a:schemeClr val="accent4"/>
                </a:solidFill>
              </a:defRPr>
            </a:lvl2pPr>
          </a:lstStyle>
          <a:p>
            <a:pPr lvl="0"/>
            <a:r>
              <a:rPr lang="en-US"/>
              <a:t>Your section title here</a:t>
            </a:r>
            <a:endParaRPr lang="en-GB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EB164DFA-8244-4964-B1FA-870AA1C2BB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00" y="1378822"/>
            <a:ext cx="9699625" cy="307777"/>
          </a:xfrm>
        </p:spPr>
        <p:txBody>
          <a:bodyPr>
            <a:spAutoFit/>
          </a:bodyPr>
          <a:lstStyle>
            <a:lvl1pPr>
              <a:spcAft>
                <a:spcPts val="0"/>
              </a:spcAft>
              <a:defRPr sz="2000">
                <a:solidFill>
                  <a:schemeClr val="tx2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29167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>
            <a:extLst>
              <a:ext uri="{FF2B5EF4-FFF2-40B4-BE49-F238E27FC236}">
                <a16:creationId xmlns:a16="http://schemas.microsoft.com/office/drawing/2014/main" id="{12549625-EA9E-4399-A3C3-4915BD9BE7C1}"/>
              </a:ext>
            </a:extLst>
          </p:cNvPr>
          <p:cNvSpPr/>
          <p:nvPr userDrawn="1"/>
        </p:nvSpPr>
        <p:spPr>
          <a:xfrm>
            <a:off x="0" y="2840476"/>
            <a:ext cx="12177184" cy="159663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15875" cap="flat">
            <a:noFill/>
            <a:prstDash val="solid"/>
            <a:miter lim="800000"/>
          </a:ln>
          <a:effectLst/>
        </p:spPr>
        <p:txBody>
          <a:bodyPr lIns="0" tIns="91437" rIns="0" bIns="91437" anchor="ctr" anchorCtr="0"/>
          <a:lstStyle>
            <a:lvl1pPr marL="0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1pPr>
            <a:lvl2pPr marL="4556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2pPr>
            <a:lvl3pPr marL="9128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3pPr>
            <a:lvl4pPr marL="13700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4pPr>
            <a:lvl5pPr marL="18272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5pPr>
          </a:lstStyle>
          <a:p>
            <a:pPr marL="0" lvl="0" indent="0" algn="ctr" defTabSz="912237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200" b="0" i="0" u="none" baseline="0">
              <a:solidFill>
                <a:srgbClr val="FFFFFF"/>
              </a:solidFill>
              <a:effectLst/>
              <a:latin typeface="Gill Sans MT"/>
            </a:endParaRP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3F2208E2-1174-8044-8F05-BCBCBEB6065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057917" y="3098936"/>
            <a:ext cx="609600" cy="1079500"/>
          </a:xfrm>
          <a:prstGeom prst="rect">
            <a:avLst/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2133" b="0" i="0">
                <a:solidFill>
                  <a:schemeClr val="bg1"/>
                </a:solidFill>
                <a:latin typeface="Gill Sans MT" panose="020B0502020104020203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8A3668D-B5CA-9C44-93C3-185AE0F6A6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789043" y="3098936"/>
            <a:ext cx="9350445" cy="6359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1" i="0" cap="all" baseline="0">
                <a:solidFill>
                  <a:srgbClr val="0070C0"/>
                </a:solidFill>
              </a:defRPr>
            </a:lvl1pPr>
            <a:lvl2pPr>
              <a:defRPr sz="3733"/>
            </a:lvl2pPr>
            <a:lvl3pPr>
              <a:defRPr sz="3733"/>
            </a:lvl3pPr>
            <a:lvl4pPr>
              <a:defRPr sz="3733"/>
            </a:lvl4pPr>
            <a:lvl5pPr>
              <a:defRPr sz="3733"/>
            </a:lvl5pPr>
          </a:lstStyle>
          <a:p>
            <a:r>
              <a:rPr lang="en-US" sz="3733">
                <a:solidFill>
                  <a:srgbClr val="0070C0"/>
                </a:solidFill>
              </a:rPr>
              <a:t>ADD DIVIDER SLIDE TITLE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D89254E-3A43-44A7-B9A6-6E634D904D32}"/>
              </a:ext>
            </a:extLst>
          </p:cNvPr>
          <p:cNvCxnSpPr/>
          <p:nvPr userDrawn="1"/>
        </p:nvCxnSpPr>
        <p:spPr>
          <a:xfrm>
            <a:off x="7408" y="2840476"/>
            <a:ext cx="12177184" cy="0"/>
          </a:xfrm>
          <a:prstGeom prst="line">
            <a:avLst/>
          </a:prstGeom>
          <a:ln w="635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8BF0CB-992F-4B59-8659-44C8A6851B3B}"/>
              </a:ext>
            </a:extLst>
          </p:cNvPr>
          <p:cNvCxnSpPr/>
          <p:nvPr userDrawn="1"/>
        </p:nvCxnSpPr>
        <p:spPr>
          <a:xfrm>
            <a:off x="7408" y="4436896"/>
            <a:ext cx="12177184" cy="0"/>
          </a:xfrm>
          <a:prstGeom prst="line">
            <a:avLst/>
          </a:prstGeom>
          <a:ln w="635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42E4C-92CC-4DF2-8620-C029A49D53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89113" y="3905386"/>
            <a:ext cx="9350375" cy="273050"/>
          </a:xfrm>
        </p:spPr>
        <p:txBody>
          <a:bodyPr>
            <a:noAutofit/>
          </a:bodyPr>
          <a:lstStyle>
            <a:lvl1pPr>
              <a:defRPr sz="2000">
                <a:solidFill>
                  <a:schemeClr val="accent4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048466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08D1936C-BDE7-4FEA-B28E-0A2ABD9E0FB8}"/>
              </a:ext>
            </a:extLst>
          </p:cNvPr>
          <p:cNvSpPr/>
          <p:nvPr userDrawn="1"/>
        </p:nvSpPr>
        <p:spPr bwMode="gray">
          <a:xfrm>
            <a:off x="200025" y="335114"/>
            <a:ext cx="791860" cy="79186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305ACA-5CE7-4CE2-B376-E048764AB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100" y="468868"/>
            <a:ext cx="9013825" cy="4308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D9B3E520-5B7D-476C-8666-8398DF3B92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54100" y="944563"/>
            <a:ext cx="9013825" cy="307777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2000">
                <a:solidFill>
                  <a:schemeClr val="tx2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F9E6EEEA-7EDE-40BC-93B3-F389CFB187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54100" y="209550"/>
            <a:ext cx="9013825" cy="211138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600" cap="all" baseline="0">
                <a:solidFill>
                  <a:schemeClr val="accent4"/>
                </a:solidFill>
              </a:defRPr>
            </a:lvl1pPr>
            <a:lvl2pPr>
              <a:buNone/>
              <a:defRPr sz="1400" cap="all" baseline="0">
                <a:solidFill>
                  <a:schemeClr val="accent4"/>
                </a:solidFill>
              </a:defRPr>
            </a:lvl2pPr>
          </a:lstStyle>
          <a:p>
            <a:pPr lvl="0"/>
            <a:r>
              <a:rPr lang="en-US"/>
              <a:t>Your section title here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513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ED9456-EA18-4B02-9760-6001B3170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68868"/>
            <a:ext cx="9699625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29" name="Slide Number Placeholder 12"/>
          <p:cNvSpPr/>
          <p:nvPr/>
        </p:nvSpPr>
        <p:spPr>
          <a:xfrm>
            <a:off x="11192405" y="6527761"/>
            <a:ext cx="632883" cy="138499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0" tIns="0" rIns="0" bIns="0" anchor="t" anchorCtr="0">
            <a:noAutofit/>
          </a:bodyPr>
          <a:lstStyle>
            <a:lvl1pPr marL="0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1pPr>
            <a:lvl2pPr marL="4556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2pPr>
            <a:lvl3pPr marL="9128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3pPr>
            <a:lvl4pPr marL="13700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4pPr>
            <a:lvl5pPr marL="18272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5pPr>
          </a:lstStyle>
          <a:p>
            <a:pPr marL="0" lvl="0" indent="0" algn="r" defTabSz="609570"/>
            <a:fld id="{038A6AB4-5F87-45F9-A0C2-53108FE3B773}" type="slidenum">
              <a:rPr lang="en-US" sz="800" b="0" i="0">
                <a:solidFill>
                  <a:schemeClr val="bg1">
                    <a:lumMod val="50000"/>
                  </a:schemeClr>
                </a:solidFill>
                <a:latin typeface="Gill Sans MT"/>
              </a:rPr>
              <a:pPr marL="0" lvl="0" indent="0" algn="r" defTabSz="609570"/>
              <a:t>‹#›</a:t>
            </a:fld>
            <a:endParaRPr lang="en-US" sz="800" b="0" i="0">
              <a:solidFill>
                <a:schemeClr val="bg1">
                  <a:lumMod val="50000"/>
                </a:schemeClr>
              </a:solidFill>
              <a:latin typeface="Gill Sans MT"/>
            </a:endParaRPr>
          </a:p>
        </p:txBody>
      </p:sp>
      <p:sp>
        <p:nvSpPr>
          <p:cNvPr id="1030" name="TextBox 23"/>
          <p:cNvSpPr/>
          <p:nvPr/>
        </p:nvSpPr>
        <p:spPr>
          <a:xfrm>
            <a:off x="368300" y="6529100"/>
            <a:ext cx="4527549" cy="137160"/>
          </a:xfrm>
          <a:prstGeom prst="rect">
            <a:avLst/>
          </a:prstGeom>
          <a:noFill/>
          <a:ln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>
            <a:noAutofit/>
          </a:bodyPr>
          <a:lstStyle>
            <a:lvl1pPr marL="0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1pPr>
            <a:lvl2pPr marL="4556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2pPr>
            <a:lvl3pPr marL="9128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3pPr>
            <a:lvl4pPr marL="13700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4pPr>
            <a:lvl5pPr marL="1827212" indent="0" algn="l" defTabSz="455612" rtl="0" eaLnBrk="1" hangingPunct="1">
              <a:buNone/>
              <a:defRPr lang="en-US" altLang="en-US" sz="1800">
                <a:solidFill>
                  <a:schemeClr val="tx1"/>
                </a:solidFill>
                <a:latin typeface="Arial"/>
                <a:ea typeface="Arial"/>
              </a:defRPr>
            </a:lvl5pPr>
          </a:lstStyle>
          <a:p>
            <a:pPr lvl="0"/>
            <a:r>
              <a:rPr lang="en-GB" sz="800" b="0" i="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HARMAN INTERNATIONAL. CONFIDENTIAL COPYRIGHT 2023</a:t>
            </a:r>
            <a:endParaRPr lang="en-US" sz="800" b="0" i="0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83EDBFB-6D56-446E-AF9C-90584CA51A1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91445" y="305236"/>
            <a:ext cx="1432255" cy="837764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8D4A05-EDB4-4B5E-AFCE-ECC661BD4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300" y="1587500"/>
            <a:ext cx="11456988" cy="44322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55D32776-1E58-4980-90C9-425F7BA24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300" y="6065838"/>
            <a:ext cx="5638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GB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929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23" r:id="rId2"/>
    <p:sldLayoutId id="2147483831" r:id="rId3"/>
    <p:sldLayoutId id="2147483825" r:id="rId4"/>
    <p:sldLayoutId id="2147483826" r:id="rId5"/>
    <p:sldLayoutId id="2147483827" r:id="rId6"/>
    <p:sldLayoutId id="2147483828" r:id="rId7"/>
  </p:sldLayoutIdLst>
  <p:transition/>
  <p:hf hdr="0" ftr="0" dt="0"/>
  <p:txStyles>
    <p:titleStyle>
      <a:lvl1pPr marL="0" indent="0" algn="l" defTabSz="607451" rtl="0" eaLnBrk="1" latinLnBrk="0" hangingPunct="1">
        <a:lnSpc>
          <a:spcPct val="100000"/>
        </a:lnSpc>
        <a:spcBef>
          <a:spcPts val="0"/>
        </a:spcBef>
        <a:buClr>
          <a:srgbClr val="0073AE"/>
        </a:buClr>
        <a:buFont typeface="Arial"/>
        <a:buNone/>
        <a:defRPr lang="en-US" altLang="en-US" sz="2800" b="1" i="0" kern="0" cap="all" baseline="0" dirty="0">
          <a:solidFill>
            <a:srgbClr val="0070C0"/>
          </a:solidFill>
          <a:latin typeface="Gill Sans MT"/>
          <a:ea typeface="Gill Sans MT" panose="020B0502020104020203" pitchFamily="34" charset="77"/>
          <a:cs typeface="+mn-cs"/>
        </a:defRPr>
      </a:lvl1pPr>
    </p:titleStyle>
    <p:bodyStyle>
      <a:lvl1pPr marL="0" indent="0" algn="l" defTabSz="607451" rtl="0" eaLnBrk="1" hangingPunct="1">
        <a:lnSpc>
          <a:spcPct val="100000"/>
        </a:lnSpc>
        <a:spcBef>
          <a:spcPts val="0"/>
        </a:spcBef>
        <a:spcAft>
          <a:spcPts val="600"/>
        </a:spcAft>
        <a:buClr>
          <a:srgbClr val="0073AE"/>
        </a:buClr>
        <a:buFont typeface="Arial"/>
        <a:buNone/>
        <a:defRPr sz="1800" b="0" i="0">
          <a:solidFill>
            <a:srgbClr val="0073AE"/>
          </a:solidFill>
          <a:latin typeface="+mn-lt"/>
          <a:ea typeface="Gill Sans MT" panose="020B0502020104020203" pitchFamily="34" charset="77"/>
        </a:defRPr>
      </a:lvl1pPr>
      <a:lvl2pPr marL="182880" indent="-182880" algn="l" defTabSz="607451" rtl="0" eaLnBrk="1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b="0" i="0">
          <a:solidFill>
            <a:schemeClr val="tx2"/>
          </a:solidFill>
          <a:latin typeface="+mn-lt"/>
          <a:ea typeface="Gill Sans MT" panose="020B0502020104020203" pitchFamily="34" charset="77"/>
        </a:defRPr>
      </a:lvl2pPr>
      <a:lvl3pPr marL="365760" indent="-182880" algn="l" defTabSz="607451" rtl="0" eaLnBrk="1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Gill Sans MT" panose="020B0502020104020203" pitchFamily="34" charset="0"/>
        <a:buChar char="–"/>
        <a:defRPr sz="1600" b="0" i="0">
          <a:solidFill>
            <a:schemeClr val="tx2"/>
          </a:solidFill>
          <a:latin typeface="+mn-lt"/>
          <a:ea typeface="Gill Sans MT" panose="020B0502020104020203" pitchFamily="34" charset="77"/>
        </a:defRPr>
      </a:lvl3pPr>
      <a:lvl4pPr marL="548640" indent="-182880" algn="l" defTabSz="607451" rtl="0" eaLnBrk="1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Gill Sans MT" panose="020B0502020104020203" pitchFamily="34" charset="0"/>
        <a:buChar char="–"/>
        <a:defRPr sz="1600" b="0" i="0">
          <a:solidFill>
            <a:schemeClr val="tx2"/>
          </a:solidFill>
          <a:latin typeface="Gill Sans MT"/>
          <a:ea typeface="Gill Sans MT" panose="020B0502020104020203" pitchFamily="34" charset="77"/>
        </a:defRPr>
      </a:lvl4pPr>
      <a:lvl5pPr marL="731520" indent="-182880" algn="l" defTabSz="607451" rtl="0" eaLnBrk="1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Gill Sans MT" panose="020B0502020104020203" pitchFamily="34" charset="0"/>
        <a:buChar char="»"/>
        <a:defRPr sz="1600" b="0" i="0">
          <a:solidFill>
            <a:schemeClr val="tx2"/>
          </a:solidFill>
          <a:latin typeface="Gill Sans MT"/>
          <a:ea typeface="Gill Sans MT" panose="020B0502020104020203" pitchFamily="34" charset="77"/>
        </a:defRPr>
      </a:lvl5pPr>
    </p:bodyStyle>
    <p:otherStyle>
      <a:lvl1pPr marL="0" indent="0" algn="l" defTabSz="607451" rtl="0" eaLnBrk="1" hangingPunct="1">
        <a:buNone/>
        <a:defRPr sz="2400">
          <a:solidFill>
            <a:schemeClr val="tx1"/>
          </a:solidFill>
          <a:latin typeface="Gill Sans MT"/>
          <a:ea typeface="Arial"/>
        </a:defRPr>
      </a:lvl1pPr>
      <a:lvl2pPr marL="607451" indent="0" algn="l" defTabSz="607451" rtl="0" eaLnBrk="1" hangingPunct="1">
        <a:buNone/>
        <a:defRPr sz="2400">
          <a:solidFill>
            <a:schemeClr val="tx1"/>
          </a:solidFill>
          <a:latin typeface="Gill Sans MT"/>
          <a:ea typeface="Arial"/>
        </a:defRPr>
      </a:lvl2pPr>
      <a:lvl3pPr marL="1217022" indent="0" algn="l" defTabSz="607451" rtl="0" eaLnBrk="1" hangingPunct="1">
        <a:buNone/>
        <a:defRPr sz="2400">
          <a:solidFill>
            <a:schemeClr val="tx1"/>
          </a:solidFill>
          <a:latin typeface="Gill Sans MT"/>
          <a:ea typeface="Arial"/>
        </a:defRPr>
      </a:lvl3pPr>
      <a:lvl4pPr marL="1826592" indent="0" algn="l" defTabSz="607451" rtl="0" eaLnBrk="1" hangingPunct="1">
        <a:buNone/>
        <a:defRPr sz="2400">
          <a:solidFill>
            <a:schemeClr val="tx1"/>
          </a:solidFill>
          <a:latin typeface="Gill Sans MT"/>
          <a:ea typeface="Arial"/>
        </a:defRPr>
      </a:lvl4pPr>
      <a:lvl5pPr marL="2436162" indent="0" algn="l" defTabSz="607451" rtl="0" eaLnBrk="1" hangingPunct="1">
        <a:buNone/>
        <a:defRPr sz="2400">
          <a:solidFill>
            <a:schemeClr val="tx1"/>
          </a:solidFill>
          <a:latin typeface="Gill Sans MT"/>
          <a:ea typeface="Arial"/>
        </a:defRPr>
      </a:lvl5pPr>
    </p:otherStyle>
  </p:txStyles>
  <p:extLst>
    <p:ext uri="{27BBF7A9-308A-43DC-89C8-2F10F3537804}">
      <p15:sldGuideLst xmlns:p15="http://schemas.microsoft.com/office/powerpoint/2012/main">
        <p15:guide id="3" orient="horz" pos="4200" userDrawn="1">
          <p15:clr>
            <a:srgbClr val="F26B43"/>
          </p15:clr>
        </p15:guide>
        <p15:guide id="5" orient="horz" pos="4080" userDrawn="1">
          <p15:clr>
            <a:srgbClr val="F26B43"/>
          </p15:clr>
        </p15:guide>
        <p15:guide id="15" userDrawn="1">
          <p15:clr>
            <a:srgbClr val="F26B43"/>
          </p15:clr>
        </p15:guide>
        <p15:guide id="17" pos="7449" userDrawn="1">
          <p15:clr>
            <a:srgbClr val="F26B43"/>
          </p15:clr>
        </p15:guide>
        <p15:guide id="18" pos="7680" userDrawn="1">
          <p15:clr>
            <a:srgbClr val="F26B43"/>
          </p15:clr>
        </p15:guide>
        <p15:guide id="21" pos="232" userDrawn="1">
          <p15:clr>
            <a:srgbClr val="F26B43"/>
          </p15:clr>
        </p15:guide>
        <p15:guide id="22" orient="horz" pos="295" userDrawn="1">
          <p15:clr>
            <a:srgbClr val="F26B43"/>
          </p15:clr>
        </p15:guide>
        <p15:guide id="23" orient="horz" pos="566" userDrawn="1">
          <p15:clr>
            <a:srgbClr val="F26B43"/>
          </p15:clr>
        </p15:guide>
        <p15:guide id="24" orient="horz" pos="3792" userDrawn="1">
          <p15:clr>
            <a:srgbClr val="F26B43"/>
          </p15:clr>
        </p15:guide>
        <p15:guide id="25" orient="horz" pos="1000" userDrawn="1">
          <p15:clr>
            <a:srgbClr val="F26B43"/>
          </p15:clr>
        </p15:guide>
        <p15:guide id="26" orient="horz" pos="132" userDrawn="1">
          <p15:clr>
            <a:srgbClr val="F26B43"/>
          </p15:clr>
        </p15:guide>
        <p15:guide id="29" orient="horz" pos="789" userDrawn="1">
          <p15:clr>
            <a:srgbClr val="F26B43"/>
          </p15:clr>
        </p15:guide>
        <p15:guide id="30" pos="1030" userDrawn="1">
          <p15:clr>
            <a:srgbClr val="F26B43"/>
          </p15:clr>
        </p15:guide>
        <p15:guide id="31" pos="1144" userDrawn="1">
          <p15:clr>
            <a:srgbClr val="F26B43"/>
          </p15:clr>
        </p15:guide>
        <p15:guide id="32" pos="1947" userDrawn="1">
          <p15:clr>
            <a:srgbClr val="F26B43"/>
          </p15:clr>
        </p15:guide>
        <p15:guide id="33" pos="2061" userDrawn="1">
          <p15:clr>
            <a:srgbClr val="F26B43"/>
          </p15:clr>
        </p15:guide>
        <p15:guide id="34" pos="2864" userDrawn="1">
          <p15:clr>
            <a:srgbClr val="F26B43"/>
          </p15:clr>
        </p15:guide>
        <p15:guide id="35" pos="2978" userDrawn="1">
          <p15:clr>
            <a:srgbClr val="F26B43"/>
          </p15:clr>
        </p15:guide>
        <p15:guide id="36" pos="3781" userDrawn="1">
          <p15:clr>
            <a:srgbClr val="F26B43"/>
          </p15:clr>
        </p15:guide>
        <p15:guide id="37" pos="3895" userDrawn="1">
          <p15:clr>
            <a:srgbClr val="F26B43"/>
          </p15:clr>
        </p15:guide>
        <p15:guide id="38" pos="4698" userDrawn="1">
          <p15:clr>
            <a:srgbClr val="F26B43"/>
          </p15:clr>
        </p15:guide>
        <p15:guide id="39" pos="4812" userDrawn="1">
          <p15:clr>
            <a:srgbClr val="F26B43"/>
          </p15:clr>
        </p15:guide>
        <p15:guide id="40" pos="5615" userDrawn="1">
          <p15:clr>
            <a:srgbClr val="F26B43"/>
          </p15:clr>
        </p15:guide>
        <p15:guide id="41" pos="5729" userDrawn="1">
          <p15:clr>
            <a:srgbClr val="F26B43"/>
          </p15:clr>
        </p15:guide>
        <p15:guide id="42" pos="6532" userDrawn="1">
          <p15:clr>
            <a:srgbClr val="F26B43"/>
          </p15:clr>
        </p15:guide>
        <p15:guide id="43" pos="6646" userDrawn="1">
          <p15:clr>
            <a:srgbClr val="F26B43"/>
          </p15:clr>
        </p15:guide>
        <p15:guide id="44" pos="631" userDrawn="1">
          <p15:clr>
            <a:srgbClr val="FBAE40"/>
          </p15:clr>
        </p15:guide>
        <p15:guide id="45" pos="7054" userDrawn="1">
          <p15:clr>
            <a:srgbClr val="FBAE4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y.sap.com/t5/technology-blogs-by-sap/sap-fiori-for-sap-s-4hana-10-health-checks-for-the-sap-fiori-launchpad/ba-p/13521953" TargetMode="External"/><Relationship Id="rId2" Type="http://schemas.openxmlformats.org/officeDocument/2006/relationships/hyperlink" Target="https://community.sap.com/t5/technology-blogs-by-sap/recommendation-for-structuring-roles-spaces-and-pages-in-the-sap-fiori/ba-p/13487089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2AB41-1600-4596-BEB7-06E26C40C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01" y="1894114"/>
            <a:ext cx="6457042" cy="3331029"/>
          </a:xfrm>
        </p:spPr>
        <p:txBody>
          <a:bodyPr/>
          <a:lstStyle/>
          <a:p>
            <a:r>
              <a:rPr lang="en-GB" dirty="0">
                <a:latin typeface="+mj-lt"/>
              </a:rPr>
              <a:t>Security steps for S/4 Hana Migration from ECC</a:t>
            </a:r>
            <a:br>
              <a:rPr lang="en-GB" dirty="0">
                <a:latin typeface="+mj-lt"/>
              </a:rPr>
            </a:br>
            <a:endParaRPr lang="en-GB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4468551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98E6-D189-4BD9-9503-78F02C523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j-lt"/>
              </a:rPr>
              <a:t>Approaches for migration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B6A2D3-8D73-2EC0-7ABE-3BE62A8B552D}"/>
              </a:ext>
            </a:extLst>
          </p:cNvPr>
          <p:cNvSpPr txBox="1"/>
          <p:nvPr/>
        </p:nvSpPr>
        <p:spPr>
          <a:xfrm>
            <a:off x="729747" y="1278553"/>
            <a:ext cx="1128808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2"/>
                </a:solidFill>
              </a:rPr>
              <a:t>Upgrade – </a:t>
            </a:r>
            <a:r>
              <a:rPr lang="en-US" sz="2000" b="1" dirty="0">
                <a:solidFill>
                  <a:schemeClr val="tx2"/>
                </a:solidFill>
              </a:rPr>
              <a:t>Download and Upload Roles to Greenfield S/4 </a:t>
            </a:r>
            <a:r>
              <a:rPr lang="en-US" sz="2000" b="1" dirty="0" err="1">
                <a:solidFill>
                  <a:schemeClr val="tx2"/>
                </a:solidFill>
              </a:rPr>
              <a:t>Hana.Just</a:t>
            </a:r>
            <a:r>
              <a:rPr lang="en-US" sz="2000" b="1" dirty="0">
                <a:solidFill>
                  <a:schemeClr val="tx2"/>
                </a:solidFill>
              </a:rPr>
              <a:t> SU25 steps and post-maintain roles with upgraded SU25 entries.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2"/>
                </a:solidFill>
              </a:rPr>
              <a:t>Brownfield – </a:t>
            </a:r>
            <a:r>
              <a:rPr lang="en-US" sz="2000" b="1" dirty="0">
                <a:solidFill>
                  <a:schemeClr val="tx2"/>
                </a:solidFill>
              </a:rPr>
              <a:t>Optimize roles &amp; business processes according to Greenfield S/4 Hana system. Remove inconsistencies between role menu and S_TCODE content. Remove unused </a:t>
            </a:r>
            <a:r>
              <a:rPr lang="en-US" sz="2000" b="1" dirty="0" err="1">
                <a:solidFill>
                  <a:schemeClr val="tx2"/>
                </a:solidFill>
              </a:rPr>
              <a:t>tcode</a:t>
            </a:r>
            <a:r>
              <a:rPr lang="en-US" sz="2000" b="1" dirty="0">
                <a:solidFill>
                  <a:schemeClr val="tx2"/>
                </a:solidFill>
              </a:rPr>
              <a:t> and add new ones where needed.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2"/>
                </a:solidFill>
              </a:rPr>
              <a:t>Greenfield</a:t>
            </a:r>
            <a:r>
              <a:rPr lang="en-US" sz="2000" b="1" dirty="0">
                <a:solidFill>
                  <a:schemeClr val="tx2"/>
                </a:solidFill>
              </a:rPr>
              <a:t> – Redesigning all the business processes according to Fiori &amp; S/4 Hana system.</a:t>
            </a:r>
            <a:endParaRPr lang="en-US" sz="28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20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98E6-D189-4BD9-9503-78F02C523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j-lt"/>
              </a:rPr>
              <a:t>Pre upgrade security checks in ECC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B6A2D3-8D73-2EC0-7ABE-3BE62A8B552D}"/>
              </a:ext>
            </a:extLst>
          </p:cNvPr>
          <p:cNvSpPr txBox="1"/>
          <p:nvPr/>
        </p:nvSpPr>
        <p:spPr>
          <a:xfrm>
            <a:off x="368300" y="1041723"/>
            <a:ext cx="11250593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6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2"/>
                </a:solidFill>
              </a:rPr>
              <a:t>Back up roles by either downloading the roles or creating a transport and exporting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2"/>
                </a:solidFill>
              </a:rPr>
              <a:t>Download and backup data from table -AGR_1250,AGR_1251,AGR_TCODES,AGR_USERS,USOBT,USOBX,USOBT_C,USOBX_C </a:t>
            </a:r>
            <a:r>
              <a:rPr lang="en-US" sz="2600" dirty="0" err="1">
                <a:solidFill>
                  <a:schemeClr val="tx2"/>
                </a:solidFill>
              </a:rPr>
              <a:t>etc</a:t>
            </a:r>
            <a:r>
              <a:rPr lang="en-US" sz="2600" dirty="0">
                <a:solidFill>
                  <a:schemeClr val="tx2"/>
                </a:solidFill>
              </a:rPr>
              <a:t> or have a system copy done prior to the upgrade. For example – AGR_USERS is used when users might say that I had particular access before upgrade.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2"/>
                </a:solidFill>
              </a:rPr>
              <a:t>Download the Simplification list document for the S/4 Hana release.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2"/>
                </a:solidFill>
              </a:rPr>
              <a:t>Download the ST03N data (containing list of transaction codes) for past few months for Fiori App Recommendation Report.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32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98E6-D189-4BD9-9503-78F02C523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45718"/>
            <a:ext cx="9699625" cy="430887"/>
          </a:xfrm>
        </p:spPr>
        <p:txBody>
          <a:bodyPr/>
          <a:lstStyle/>
          <a:p>
            <a:r>
              <a:rPr lang="en-GB" dirty="0">
                <a:latin typeface="+mj-lt"/>
              </a:rPr>
              <a:t>Pre upgrade security checks in S/4 Hana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B6A2D3-8D73-2EC0-7ABE-3BE62A8B552D}"/>
              </a:ext>
            </a:extLst>
          </p:cNvPr>
          <p:cNvSpPr txBox="1"/>
          <p:nvPr/>
        </p:nvSpPr>
        <p:spPr>
          <a:xfrm>
            <a:off x="368300" y="661161"/>
            <a:ext cx="9608204" cy="76944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22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Check the table PRGN_CORR2 – to find New S/4Hana transaction against old transaction.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Execute the program PROFGEN_CORR_REPORT_2 – This report will give you the list of all tcodes deleted in S/4 Hana which are available in </a:t>
            </a:r>
            <a:r>
              <a:rPr lang="en-US" sz="2200" dirty="0" err="1">
                <a:solidFill>
                  <a:schemeClr val="tx2"/>
                </a:solidFill>
              </a:rPr>
              <a:t>ECC.Step</a:t>
            </a:r>
            <a:r>
              <a:rPr lang="en-US" sz="2200" dirty="0">
                <a:solidFill>
                  <a:schemeClr val="tx2"/>
                </a:solidFill>
              </a:rPr>
              <a:t> 2D report of SU25.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Review the Simplification list Document for the S/4 Hana release with your business process owners and SMEs.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Check the table in ABLM_BLACKLIST in S/4 Hana for blacklisted transactions, programs, function modules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Have some brainstorming sessions with SMEs as to how you need to handle these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Dual </a:t>
            </a:r>
            <a:r>
              <a:rPr lang="en-US" sz="2200" err="1">
                <a:solidFill>
                  <a:schemeClr val="tx2"/>
                </a:solidFill>
              </a:rPr>
              <a:t>Maintainence</a:t>
            </a:r>
            <a:r>
              <a:rPr lang="en-US" sz="2200" dirty="0">
                <a:solidFill>
                  <a:schemeClr val="tx2"/>
                </a:solidFill>
              </a:rPr>
              <a:t> for old and new landscape for the changes done after transport.</a:t>
            </a:r>
            <a:endParaRPr lang="en-US" sz="22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Refer to SAP Note number 2270335 and 2190137 for getting some idea about transaction codes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Refer to SAP Note number 440231 for SU25 steps.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568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B92A5-ED9E-0B0F-BA2B-A78145386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5BC11-8542-7E11-36D9-6410352D3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45718"/>
            <a:ext cx="9699625" cy="338554"/>
          </a:xfrm>
        </p:spPr>
        <p:txBody>
          <a:bodyPr/>
          <a:lstStyle/>
          <a:p>
            <a:r>
              <a:rPr lang="en-GB" sz="2200"/>
              <a:t>Authorization adjustments due to system conversion</a:t>
            </a:r>
          </a:p>
        </p:txBody>
      </p:sp>
      <p:pic>
        <p:nvPicPr>
          <p:cNvPr id="4" name="Picture 3" descr="A blue and white text box&#10;&#10;AI-generated content may be incorrect.">
            <a:extLst>
              <a:ext uri="{FF2B5EF4-FFF2-40B4-BE49-F238E27FC236}">
                <a16:creationId xmlns:a16="http://schemas.microsoft.com/office/drawing/2014/main" id="{D7461C44-01D8-1813-5C26-0474A0FB6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75" y="1090613"/>
            <a:ext cx="10077450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80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EB73F-F378-E7F4-B8B4-941C44464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21C20-ADE8-9EBF-5ED0-BEC13D373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45718"/>
            <a:ext cx="9699625" cy="338554"/>
          </a:xfrm>
        </p:spPr>
        <p:txBody>
          <a:bodyPr/>
          <a:lstStyle/>
          <a:p>
            <a:r>
              <a:rPr lang="en-GB" sz="2200"/>
              <a:t>Authorization adjustments due to system conversion</a:t>
            </a:r>
          </a:p>
        </p:txBody>
      </p:sp>
      <p:pic>
        <p:nvPicPr>
          <p:cNvPr id="3" name="Picture 2" descr="A white card with black text and black text&#10;&#10;AI-generated content may be incorrect.">
            <a:extLst>
              <a:ext uri="{FF2B5EF4-FFF2-40B4-BE49-F238E27FC236}">
                <a16:creationId xmlns:a16="http://schemas.microsoft.com/office/drawing/2014/main" id="{660FAF08-19FB-167A-D0F9-C863E841C7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617" r="120" b="-281"/>
          <a:stretch/>
        </p:blipFill>
        <p:spPr>
          <a:xfrm>
            <a:off x="6271325" y="1425764"/>
            <a:ext cx="5203927" cy="46134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9BBD73-C89E-F5B2-6081-A2447A850967}"/>
              </a:ext>
            </a:extLst>
          </p:cNvPr>
          <p:cNvSpPr txBox="1"/>
          <p:nvPr/>
        </p:nvSpPr>
        <p:spPr>
          <a:xfrm>
            <a:off x="244142" y="1710447"/>
            <a:ext cx="5677789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Changes in the authorization object fields.</a:t>
            </a:r>
          </a:p>
          <a:p>
            <a:endParaRPr lang="en-US" sz="22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Transactions are obsolete/replaced.</a:t>
            </a:r>
          </a:p>
          <a:p>
            <a:endParaRPr lang="en-US" sz="22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Authorization objects have been replaced /have become obsolete/new authorization object have been introduced.</a:t>
            </a:r>
          </a:p>
          <a:p>
            <a:endParaRPr lang="en-US" sz="22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Changes in </a:t>
            </a:r>
            <a:r>
              <a:rPr lang="en-US" sz="2200" dirty="0" err="1">
                <a:solidFill>
                  <a:schemeClr val="tx2"/>
                </a:solidFill>
              </a:rPr>
              <a:t>behaviour</a:t>
            </a:r>
            <a:r>
              <a:rPr lang="en-US" sz="2200" dirty="0">
                <a:solidFill>
                  <a:schemeClr val="tx2"/>
                </a:solidFill>
              </a:rPr>
              <a:t> of non-mandatory fields.</a:t>
            </a:r>
          </a:p>
        </p:txBody>
      </p:sp>
    </p:spTree>
    <p:extLst>
      <p:ext uri="{BB962C8B-B14F-4D97-AF65-F5344CB8AC3E}">
        <p14:creationId xmlns:p14="http://schemas.microsoft.com/office/powerpoint/2010/main" val="3572581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B387F-4592-881B-C8BA-D748302F8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EBF28-AD4D-F917-75AD-0615B3F4C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45718"/>
            <a:ext cx="9699625" cy="338554"/>
          </a:xfrm>
        </p:spPr>
        <p:txBody>
          <a:bodyPr/>
          <a:lstStyle/>
          <a:p>
            <a:r>
              <a:rPr lang="en-GB" sz="2200"/>
              <a:t>Authorization adjustments due to system conversion</a:t>
            </a:r>
          </a:p>
        </p:txBody>
      </p:sp>
      <p:pic>
        <p:nvPicPr>
          <p:cNvPr id="4" name="Picture 3" descr="A diagram of the solar system&#10;&#10;AI-generated content may be incorrect.">
            <a:extLst>
              <a:ext uri="{FF2B5EF4-FFF2-40B4-BE49-F238E27FC236}">
                <a16:creationId xmlns:a16="http://schemas.microsoft.com/office/drawing/2014/main" id="{B3E556A5-B599-AABC-791D-06BA50655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46" y="1071678"/>
            <a:ext cx="110680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19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16F0A-B514-C6AB-56FF-8CFEE3227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2994F-32A3-E2DD-3D74-2D485C701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45718"/>
            <a:ext cx="9699625" cy="338554"/>
          </a:xfrm>
        </p:spPr>
        <p:txBody>
          <a:bodyPr/>
          <a:lstStyle/>
          <a:p>
            <a:r>
              <a:rPr lang="en-GB" sz="2200"/>
              <a:t>Sequence of steps in s/4 hana</a:t>
            </a:r>
          </a:p>
        </p:txBody>
      </p:sp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427A960A-283A-E236-6C11-448EF14F2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275" y="1095375"/>
            <a:ext cx="626745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221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80B82-0A90-BA91-7464-5F9B5468A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9503E-3F49-ECD6-DCC3-5A5BC5544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45718"/>
            <a:ext cx="9699625" cy="430887"/>
          </a:xfrm>
        </p:spPr>
        <p:txBody>
          <a:bodyPr/>
          <a:lstStyle/>
          <a:p>
            <a:r>
              <a:rPr lang="en-GB"/>
              <a:t>Upgrade steps in GRC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2ACEE7-A6B7-6831-DA6D-21303B5A49D4}"/>
              </a:ext>
            </a:extLst>
          </p:cNvPr>
          <p:cNvSpPr txBox="1"/>
          <p:nvPr/>
        </p:nvSpPr>
        <p:spPr>
          <a:xfrm>
            <a:off x="368300" y="873612"/>
            <a:ext cx="11536575" cy="90947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22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We are currently using GRC 12 SP 5 and need to check the latest SP.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Need to check with SAP if S/4 Hana supports the current GRC version or not. If not, we need to upgrade the GRC SP at least </a:t>
            </a:r>
            <a:r>
              <a:rPr lang="en-US" sz="2200">
                <a:solidFill>
                  <a:schemeClr val="tx2"/>
                </a:solidFill>
              </a:rPr>
              <a:t>14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If we upgrade SP in GRC then do we need to upgrade plug-in in satellite systems also as it is currently running into GRC 10.1.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We need to activate Fiori ruleset for GRC.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New connectors needed to be created for HMP,HCP etc.- Check with Basis Team.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Connector name needed to be update in the respective requester/approver roles.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BRF+ Workflow and Mitigation Control Table also needed to be updated.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The complete ruleset needs to be uploaded for the new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Need to make sure the new Fiori apps are included in the ruleset with the combination of semantic object and </a:t>
            </a:r>
            <a:r>
              <a:rPr lang="en-US" sz="2200" err="1">
                <a:solidFill>
                  <a:schemeClr val="tx2"/>
                </a:solidFill>
              </a:rPr>
              <a:t>Odata</a:t>
            </a:r>
            <a:r>
              <a:rPr lang="en-US" sz="2200" dirty="0">
                <a:solidFill>
                  <a:schemeClr val="tx2"/>
                </a:solidFill>
              </a:rPr>
              <a:t> services. (Ruleset needs to be approved from compliance)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FFIDs needs to configured for new S4 Hana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Background jobs needs to be scheduled in GRC for new systems. (Repository synch, FFID Log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All the roles including new and old, needs to be imported into GRC for new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Cross system ruleset connector needs to be updated with new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3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3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3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91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87819-89C1-838B-4DD3-FAD9C5CDE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715C6-5205-DF29-D0A8-BA0C11EA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45718"/>
            <a:ext cx="9699625" cy="430887"/>
          </a:xfrm>
        </p:spPr>
        <p:txBody>
          <a:bodyPr/>
          <a:lstStyle/>
          <a:p>
            <a:r>
              <a:rPr lang="en-GB"/>
              <a:t>Upgrade steps in GRC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37ADBB-7264-80B7-5B13-2A78AAB71BBA}"/>
              </a:ext>
            </a:extLst>
          </p:cNvPr>
          <p:cNvSpPr txBox="1"/>
          <p:nvPr/>
        </p:nvSpPr>
        <p:spPr>
          <a:xfrm>
            <a:off x="368300" y="873612"/>
            <a:ext cx="11536575" cy="40164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22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Standard Semantic object should be used whenever we create custom catalog due to custom GRC ruleset.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2"/>
                </a:solidFill>
              </a:rPr>
              <a:t>BTP Rise is not in the scope as of now.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3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3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518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ECCA3-351F-EB71-DEFA-0891694FA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CC084-502F-8E1F-BEEE-FB6422AA4D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7BD7BCA-3421-AB69-D7C0-3F559F1F0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1404938"/>
            <a:ext cx="11106150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237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BC631-BC35-9A32-88ED-56EFE8B4C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BE0F9-81C1-9C73-09EF-8F4458A84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68868"/>
            <a:ext cx="9699625" cy="861774"/>
          </a:xfrm>
        </p:spPr>
        <p:txBody>
          <a:bodyPr/>
          <a:lstStyle/>
          <a:p>
            <a:r>
              <a:rPr lang="en-US" dirty="0"/>
              <a:t>List of QUESTIONS TO CLARIFY AUTHORIZATION REQUIREMENTS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3951D9-FF22-CC07-01A1-F0B22BA46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782289"/>
              </p:ext>
            </p:extLst>
          </p:nvPr>
        </p:nvGraphicFramePr>
        <p:xfrm>
          <a:off x="368300" y="1487762"/>
          <a:ext cx="11500612" cy="4095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153">
                  <a:extLst>
                    <a:ext uri="{9D8B030D-6E8A-4147-A177-3AD203B41FA5}">
                      <a16:colId xmlns:a16="http://schemas.microsoft.com/office/drawing/2014/main" val="1623167994"/>
                    </a:ext>
                  </a:extLst>
                </a:gridCol>
                <a:gridCol w="2875153">
                  <a:extLst>
                    <a:ext uri="{9D8B030D-6E8A-4147-A177-3AD203B41FA5}">
                      <a16:colId xmlns:a16="http://schemas.microsoft.com/office/drawing/2014/main" val="2681424936"/>
                    </a:ext>
                  </a:extLst>
                </a:gridCol>
                <a:gridCol w="2875153">
                  <a:extLst>
                    <a:ext uri="{9D8B030D-6E8A-4147-A177-3AD203B41FA5}">
                      <a16:colId xmlns:a16="http://schemas.microsoft.com/office/drawing/2014/main" val="2359208586"/>
                    </a:ext>
                  </a:extLst>
                </a:gridCol>
                <a:gridCol w="2875153">
                  <a:extLst>
                    <a:ext uri="{9D8B030D-6E8A-4147-A177-3AD203B41FA5}">
                      <a16:colId xmlns:a16="http://schemas.microsoft.com/office/drawing/2014/main" val="1923447882"/>
                    </a:ext>
                  </a:extLst>
                </a:gridCol>
              </a:tblGrid>
              <a:tr h="925337">
                <a:tc>
                  <a:txBody>
                    <a:bodyPr/>
                    <a:lstStyle/>
                    <a:p>
                      <a:r>
                        <a:rPr lang="en-US" sz="2000" dirty="0"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Recommendation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526780"/>
                  </a:ext>
                </a:extLst>
              </a:tr>
              <a:tr h="514076">
                <a:tc>
                  <a:txBody>
                    <a:bodyPr/>
                    <a:lstStyle/>
                    <a:p>
                      <a:r>
                        <a:rPr lang="en-US" sz="1400" dirty="0"/>
                        <a:t>What is the scope of the S/4 HANA Migration Project? Are we migrating all modules or only specific modules? e.g., Finance, Sales,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Migrating all the modules in only one phase will require a lot of effort since we need to identify which process are migrated to Fiori apps.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Migration by specific modules or process.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6038192"/>
                  </a:ext>
                </a:extLst>
              </a:tr>
              <a:tr h="514076">
                <a:tc>
                  <a:txBody>
                    <a:bodyPr/>
                    <a:lstStyle/>
                    <a:p>
                      <a:r>
                        <a:rPr lang="en-US" sz="1400" dirty="0"/>
                        <a:t>Is the business expecting to execute the Fiori apps and transactions in the Fiori Portal?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Having all the Fiori apps and </a:t>
                      </a:r>
                      <a:r>
                        <a:rPr lang="en-US" sz="1400" dirty="0" err="1"/>
                        <a:t>Tcodes</a:t>
                      </a:r>
                      <a:r>
                        <a:rPr lang="en-US" sz="1400" dirty="0"/>
                        <a:t> in the Fiori portal could affect the system performance.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dirty="0"/>
                        <a:t>As per sap recommendation: No more than five sections on one page. A section should contain between three and seven apps. Ideally, there are not more than 25 apps on the whole page.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dirty="0"/>
                        <a:t>Remove the unused </a:t>
                      </a:r>
                      <a:r>
                        <a:rPr lang="en-US" sz="1400" dirty="0" err="1"/>
                        <a:t>tcodes</a:t>
                      </a:r>
                      <a:r>
                        <a:rPr lang="en-US" sz="1400" dirty="0"/>
                        <a:t> to decrease the number of transaction codes in the user menu.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90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1882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E08B6-3B44-0B2F-0172-063377DF7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7771A-AFD2-F810-BFBB-36F343FCC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68868"/>
            <a:ext cx="9699625" cy="861774"/>
          </a:xfrm>
        </p:spPr>
        <p:txBody>
          <a:bodyPr/>
          <a:lstStyle/>
          <a:p>
            <a:r>
              <a:rPr lang="en-US" dirty="0"/>
              <a:t>List of QUESTIONS TO CLARIFY AUTHORIZATION REQUIREMENTS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6BE3E32-5AD9-45A9-DB28-8777E1F97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367491"/>
              </p:ext>
            </p:extLst>
          </p:nvPr>
        </p:nvGraphicFramePr>
        <p:xfrm>
          <a:off x="368300" y="1487762"/>
          <a:ext cx="11710924" cy="4704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7731">
                  <a:extLst>
                    <a:ext uri="{9D8B030D-6E8A-4147-A177-3AD203B41FA5}">
                      <a16:colId xmlns:a16="http://schemas.microsoft.com/office/drawing/2014/main" val="1623167994"/>
                    </a:ext>
                  </a:extLst>
                </a:gridCol>
                <a:gridCol w="2927731">
                  <a:extLst>
                    <a:ext uri="{9D8B030D-6E8A-4147-A177-3AD203B41FA5}">
                      <a16:colId xmlns:a16="http://schemas.microsoft.com/office/drawing/2014/main" val="2681424936"/>
                    </a:ext>
                  </a:extLst>
                </a:gridCol>
                <a:gridCol w="2927731">
                  <a:extLst>
                    <a:ext uri="{9D8B030D-6E8A-4147-A177-3AD203B41FA5}">
                      <a16:colId xmlns:a16="http://schemas.microsoft.com/office/drawing/2014/main" val="2359208586"/>
                    </a:ext>
                  </a:extLst>
                </a:gridCol>
                <a:gridCol w="2927731">
                  <a:extLst>
                    <a:ext uri="{9D8B030D-6E8A-4147-A177-3AD203B41FA5}">
                      <a16:colId xmlns:a16="http://schemas.microsoft.com/office/drawing/2014/main" val="1923447882"/>
                    </a:ext>
                  </a:extLst>
                </a:gridCol>
              </a:tblGrid>
              <a:tr h="925337">
                <a:tc>
                  <a:txBody>
                    <a:bodyPr/>
                    <a:lstStyle/>
                    <a:p>
                      <a:r>
                        <a:rPr lang="en-US" sz="2000" dirty="0"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Recommendation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526780"/>
                  </a:ext>
                </a:extLst>
              </a:tr>
              <a:tr h="514076">
                <a:tc>
                  <a:txBody>
                    <a:bodyPr/>
                    <a:lstStyle/>
                    <a:p>
                      <a:r>
                        <a:rPr lang="en-US" sz="1400" dirty="0"/>
                        <a:t>Will the migration involve any changes to business processes that could impact authorizations? / What new business processes will be introduced?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Process changes can impact authorizations which could lead to lack of access.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Inform to the security team when the process changes to identify potential authorization changes.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6038192"/>
                  </a:ext>
                </a:extLst>
              </a:tr>
              <a:tr h="514076">
                <a:tc>
                  <a:txBody>
                    <a:bodyPr/>
                    <a:lstStyle/>
                    <a:p>
                      <a:r>
                        <a:rPr lang="en-US" sz="1400" dirty="0"/>
                        <a:t>Are there any changes to the organizational structure like plant, company code, etc.?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Need to identify the organizational changes to adapt our security model.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90060"/>
                  </a:ext>
                </a:extLst>
              </a:tr>
              <a:tr h="514076">
                <a:tc>
                  <a:txBody>
                    <a:bodyPr/>
                    <a:lstStyle/>
                    <a:p>
                      <a:r>
                        <a:rPr lang="en-US" sz="1400" dirty="0"/>
                        <a:t>Are there any new specific restrictions or access requirements for sensitive data?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Need to know in the initial phase to assess the impact.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232202"/>
                  </a:ext>
                </a:extLst>
              </a:tr>
              <a:tr h="514076">
                <a:tc>
                  <a:txBody>
                    <a:bodyPr/>
                    <a:lstStyle/>
                    <a:p>
                      <a:r>
                        <a:rPr lang="en-US" sz="1400" dirty="0"/>
                        <a:t>How will we handle the migration of custom programs or enhancements that require special authorizations? Will these migrated to S4HANA? Are we using BTP for the business users?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Harman has a lot of custom </a:t>
                      </a:r>
                      <a:r>
                        <a:rPr lang="en-US" sz="1400" dirty="0" err="1"/>
                        <a:t>tcodes</a:t>
                      </a:r>
                      <a:r>
                        <a:rPr lang="en-US" sz="1400" dirty="0"/>
                        <a:t> and custom enhancements that we need to check.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987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931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438DB-4651-C4F8-D369-4DC6DE715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864FF-DBF6-FF4A-9972-FAD12A58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68868"/>
            <a:ext cx="9699625" cy="861774"/>
          </a:xfrm>
        </p:spPr>
        <p:txBody>
          <a:bodyPr/>
          <a:lstStyle/>
          <a:p>
            <a:r>
              <a:rPr lang="en-US" dirty="0"/>
              <a:t>List of QUESTIONS TO CLARIFY AUTHORIZATION REQUIREMENTS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92BDD4-E39D-1E63-EEFC-40EF02F9B6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836424"/>
              </p:ext>
            </p:extLst>
          </p:nvPr>
        </p:nvGraphicFramePr>
        <p:xfrm>
          <a:off x="368300" y="1487762"/>
          <a:ext cx="11710924" cy="23883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7731">
                  <a:extLst>
                    <a:ext uri="{9D8B030D-6E8A-4147-A177-3AD203B41FA5}">
                      <a16:colId xmlns:a16="http://schemas.microsoft.com/office/drawing/2014/main" val="1623167994"/>
                    </a:ext>
                  </a:extLst>
                </a:gridCol>
                <a:gridCol w="2927731">
                  <a:extLst>
                    <a:ext uri="{9D8B030D-6E8A-4147-A177-3AD203B41FA5}">
                      <a16:colId xmlns:a16="http://schemas.microsoft.com/office/drawing/2014/main" val="2681424936"/>
                    </a:ext>
                  </a:extLst>
                </a:gridCol>
                <a:gridCol w="2927731">
                  <a:extLst>
                    <a:ext uri="{9D8B030D-6E8A-4147-A177-3AD203B41FA5}">
                      <a16:colId xmlns:a16="http://schemas.microsoft.com/office/drawing/2014/main" val="2359208586"/>
                    </a:ext>
                  </a:extLst>
                </a:gridCol>
                <a:gridCol w="2927731">
                  <a:extLst>
                    <a:ext uri="{9D8B030D-6E8A-4147-A177-3AD203B41FA5}">
                      <a16:colId xmlns:a16="http://schemas.microsoft.com/office/drawing/2014/main" val="1923447882"/>
                    </a:ext>
                  </a:extLst>
                </a:gridCol>
              </a:tblGrid>
              <a:tr h="925337">
                <a:tc>
                  <a:txBody>
                    <a:bodyPr/>
                    <a:lstStyle/>
                    <a:p>
                      <a:r>
                        <a:rPr lang="en-US" sz="2000" dirty="0"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Recommendation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526780"/>
                  </a:ext>
                </a:extLst>
              </a:tr>
              <a:tr h="514076">
                <a:tc>
                  <a:txBody>
                    <a:bodyPr/>
                    <a:lstStyle/>
                    <a:p>
                      <a:r>
                        <a:rPr lang="en-US" sz="1400" dirty="0"/>
                        <a:t>Which Fiori apps will be used in S4HANA? What are the corresponding business catalogs and authorization objects?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90060"/>
                  </a:ext>
                </a:extLst>
              </a:tr>
              <a:tr h="51407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Which interfaces are migrated to S4HANA and which not?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201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681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12258-A0E4-4A03-96F4-1D4A13DE6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19E55-816E-09AB-ECB3-8FD341D9A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68868"/>
            <a:ext cx="9699625" cy="430887"/>
          </a:xfrm>
        </p:spPr>
        <p:txBody>
          <a:bodyPr/>
          <a:lstStyle/>
          <a:p>
            <a:r>
              <a:rPr lang="en-US" dirty="0"/>
              <a:t>Initial assessments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3FA065-140D-9A3C-BD62-1939B1734282}"/>
              </a:ext>
            </a:extLst>
          </p:cNvPr>
          <p:cNvSpPr txBox="1"/>
          <p:nvPr/>
        </p:nvSpPr>
        <p:spPr>
          <a:xfrm>
            <a:off x="368300" y="1041723"/>
            <a:ext cx="11250593" cy="64325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26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2"/>
                </a:solidFill>
              </a:rPr>
              <a:t>Identify how many roles/</a:t>
            </a:r>
            <a:r>
              <a:rPr lang="en-US" sz="2600" dirty="0" err="1">
                <a:solidFill>
                  <a:schemeClr val="tx2"/>
                </a:solidFill>
              </a:rPr>
              <a:t>tcodes</a:t>
            </a:r>
            <a:r>
              <a:rPr lang="en-US" sz="2600" dirty="0">
                <a:solidFill>
                  <a:schemeClr val="tx2"/>
                </a:solidFill>
              </a:rPr>
              <a:t> we have per user. (Maximum, minimum, medium).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2"/>
                </a:solidFill>
              </a:rPr>
              <a:t>Identify action usage (Most and less used </a:t>
            </a:r>
            <a:r>
              <a:rPr lang="en-US" sz="2600" dirty="0" err="1">
                <a:solidFill>
                  <a:schemeClr val="tx2"/>
                </a:solidFill>
              </a:rPr>
              <a:t>tcodes</a:t>
            </a:r>
            <a:r>
              <a:rPr lang="en-US" sz="2600" dirty="0">
                <a:solidFill>
                  <a:schemeClr val="tx2"/>
                </a:solidFill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2"/>
                </a:solidFill>
              </a:rPr>
              <a:t>Assessment of the transaction codes in our current model that will be replaced by Fiori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2"/>
                </a:solidFill>
              </a:rPr>
              <a:t>Assessment of the obsolete transaction codes in our security model in the sandbox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2"/>
                </a:solidFill>
              </a:rPr>
              <a:t>Assessment of the new transaction codes and authorization objects introduced in S4HANA. (S_BTCH_NA1) for example.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2"/>
                </a:solidFill>
              </a:rPr>
              <a:t>Define Naming convention for custom catalogs, spaces and pages.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2"/>
                </a:solidFill>
              </a:rPr>
              <a:t>Review non Z roles</a:t>
            </a:r>
            <a:r>
              <a:rPr lang="en-US" sz="2600">
                <a:solidFill>
                  <a:schemeClr val="tx2"/>
                </a:solidFill>
              </a:rPr>
              <a:t> (Old Siam roles) that we are still using.</a:t>
            </a:r>
            <a:endParaRPr lang="en-US" sz="26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  <a:p>
            <a:endParaRPr lang="en-US" sz="16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54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08371-6608-FC08-31F4-F422D9334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68868"/>
            <a:ext cx="9699625" cy="430887"/>
          </a:xfrm>
        </p:spPr>
        <p:txBody>
          <a:bodyPr/>
          <a:lstStyle/>
          <a:p>
            <a:r>
              <a:rPr lang="en-US"/>
              <a:t>Best Practices, recommendations and notes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E5DE9-579C-FE0C-1E39-A45886E407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112250-7C12-973A-242B-CB801464139F}"/>
              </a:ext>
            </a:extLst>
          </p:cNvPr>
          <p:cNvSpPr txBox="1"/>
          <p:nvPr/>
        </p:nvSpPr>
        <p:spPr>
          <a:xfrm>
            <a:off x="601579" y="1243262"/>
            <a:ext cx="11319710" cy="9387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ea typeface="+mn-lt"/>
                <a:cs typeface="+mn-lt"/>
                <a:hlinkClick r:id="rId2"/>
              </a:rPr>
              <a:t>Recommendation for Structuring Roles, Spaces and P... - SAP Community</a:t>
            </a:r>
            <a:endParaRPr lang="en-US"/>
          </a:p>
          <a:p>
            <a:pPr algn="l"/>
            <a:endParaRPr lang="en-US" sz="1100" dirty="0">
              <a:latin typeface="Gill Sans MT"/>
            </a:endParaRPr>
          </a:p>
          <a:p>
            <a:r>
              <a:rPr lang="en-US" sz="1100" dirty="0">
                <a:ea typeface="+mn-lt"/>
                <a:cs typeface="+mn-lt"/>
                <a:hlinkClick r:id="rId3"/>
              </a:rPr>
              <a:t>SAP Fiori for SAP S/4HANA – 10 health checks for t... - SAP Community</a:t>
            </a:r>
            <a:endParaRPr lang="en-US"/>
          </a:p>
          <a:p>
            <a:endParaRPr lang="en-US" sz="1100" dirty="0">
              <a:latin typeface="Gill Sans MT"/>
            </a:endParaRPr>
          </a:p>
          <a:p>
            <a:endParaRPr lang="en-US" sz="11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99101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HARMAN Template 2020">
  <a:themeElements>
    <a:clrScheme name="HARMAN CORPORATE 2020">
      <a:dk1>
        <a:srgbClr val="080808"/>
      </a:dk1>
      <a:lt1>
        <a:srgbClr val="FFFFFF"/>
      </a:lt1>
      <a:dk2>
        <a:srgbClr val="0073AD"/>
      </a:dk2>
      <a:lt2>
        <a:srgbClr val="55CFFE"/>
      </a:lt2>
      <a:accent1>
        <a:srgbClr val="00B0EF"/>
      </a:accent1>
      <a:accent2>
        <a:srgbClr val="0070BF"/>
      </a:accent2>
      <a:accent3>
        <a:srgbClr val="007DAA"/>
      </a:accent3>
      <a:accent4>
        <a:srgbClr val="014C76"/>
      </a:accent4>
      <a:accent5>
        <a:srgbClr val="8EB4E3"/>
      </a:accent5>
      <a:accent6>
        <a:srgbClr val="F7B100"/>
      </a:accent6>
      <a:hlink>
        <a:srgbClr val="079E48"/>
      </a:hlink>
      <a:folHlink>
        <a:srgbClr val="FA9300"/>
      </a:folHlink>
    </a:clrScheme>
    <a:fontScheme name="HARMAN Corporate 2022">
      <a:majorFont>
        <a:latin typeface="Gill Sans MT"/>
        <a:ea typeface="Arial"/>
        <a:cs typeface="Arial"/>
      </a:majorFont>
      <a:minorFont>
        <a:latin typeface="Gill Sans MT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icketNumber xmlns="f3ae96ce-f69b-42fb-80e0-9c148145281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6B9F4D1241814CB2AD040017252132" ma:contentTypeVersion="12" ma:contentTypeDescription="Create a new document." ma:contentTypeScope="" ma:versionID="2552456b0bd9f1baa2a8350a1a23fd88">
  <xsd:schema xmlns:xsd="http://www.w3.org/2001/XMLSchema" xmlns:xs="http://www.w3.org/2001/XMLSchema" xmlns:p="http://schemas.microsoft.com/office/2006/metadata/properties" xmlns:ns2="f3ae96ce-f69b-42fb-80e0-9c1481452814" xmlns:ns3="b04a847c-9eeb-41ed-af76-2c25948f01c5" targetNamespace="http://schemas.microsoft.com/office/2006/metadata/properties" ma:root="true" ma:fieldsID="54e4d1ff52f9a9124160f56d818b675f" ns2:_="" ns3:_="">
    <xsd:import namespace="f3ae96ce-f69b-42fb-80e0-9c1481452814"/>
    <xsd:import namespace="b04a847c-9eeb-41ed-af76-2c25948f01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TicketNumb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ae96ce-f69b-42fb-80e0-9c14814528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icketNumber" ma:index="16" nillable="true" ma:displayName="Ticket Number" ma:description="Ticket Number" ma:format="Dropdown" ma:internalName="TicketNumber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4a847c-9eeb-41ed-af76-2c25948f01c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FF19A2-69D4-4361-82A7-7F53960B57BC}">
  <ds:schemaRefs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b63855b7-7d70-48c3-8a35-604d89d4b70b"/>
    <ds:schemaRef ds:uri="http://schemas.openxmlformats.org/package/2006/metadata/core-properties"/>
    <ds:schemaRef ds:uri="http://www.w3.org/XML/1998/namespace"/>
    <ds:schemaRef ds:uri="5eefe726-1225-47fb-a87c-a44e905253bb"/>
    <ds:schemaRef ds:uri="e5ad7a85-9a7f-4076-9dbf-b003b53d4e64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EF8A8BB0-2369-44F9-9454-C6CB79ACB6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3085506-B921-4D10-BCF2-7CBBC1B7DAB3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10931</TotalTime>
  <Words>1126</Words>
  <Application>Microsoft Office PowerPoint</Application>
  <PresentationFormat>Widescreen</PresentationFormat>
  <Paragraphs>130</Paragraphs>
  <Slides>16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HARMAN Template 2020</vt:lpstr>
      <vt:lpstr>Security steps for S/4 Hana Migration from ECC </vt:lpstr>
      <vt:lpstr>Approaches for migration</vt:lpstr>
      <vt:lpstr>Pre upgrade security checks in ECC</vt:lpstr>
      <vt:lpstr>Pre upgrade security checks in S/4 Hana</vt:lpstr>
      <vt:lpstr>Authorization adjustments due to system conversion</vt:lpstr>
      <vt:lpstr>Authorization adjustments due to system conversion</vt:lpstr>
      <vt:lpstr>Authorization adjustments due to system conversion</vt:lpstr>
      <vt:lpstr>Sequence of steps in s/4 hana</vt:lpstr>
      <vt:lpstr>Upgrade steps in GRC</vt:lpstr>
      <vt:lpstr>Upgrade steps in GRC</vt:lpstr>
      <vt:lpstr>PowerPoint Presentation</vt:lpstr>
      <vt:lpstr>List of QUESTIONS TO CLARIFY AUTHORIZATION REQUIREMENTS</vt:lpstr>
      <vt:lpstr>List of QUESTIONS TO CLARIFY AUTHORIZATION REQUIREMENTS</vt:lpstr>
      <vt:lpstr>List of QUESTIONS TO CLARIFY AUTHORIZATION REQUIREMENTS</vt:lpstr>
      <vt:lpstr>Initial assessments</vt:lpstr>
      <vt:lpstr>Best Practices, recommendations and 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HARMAN Corporate Overview Presentation</dc:title>
  <dc:creator>Author</dc:creator>
  <cp:lastModifiedBy>Ramirez, Ramses</cp:lastModifiedBy>
  <cp:revision>417</cp:revision>
  <cp:lastPrinted>2020-06-01T18:03:35Z</cp:lastPrinted>
  <dcterms:created xsi:type="dcterms:W3CDTF">2020-01-15T08:57:14Z</dcterms:created>
  <dcterms:modified xsi:type="dcterms:W3CDTF">2025-03-05T23:26:57Z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0x010100B76B9F4D1241814CB2AD040017252132</vt:lpwstr>
  </property>
  <property fmtid="{D5CDD505-2E9C-101B-9397-08002B2CF9AE}" pid="3" name="MediaServiceImageTags">
    <vt:lpwstr/>
  </property>
  <property fmtid="{D5CDD505-2E9C-101B-9397-08002B2CF9AE}" pid="4" name="MSIP_Label_9c215d82-5bf5-4d07-af41-65de05a9c87a_Enabled">
    <vt:lpwstr>true</vt:lpwstr>
  </property>
  <property fmtid="{D5CDD505-2E9C-101B-9397-08002B2CF9AE}" pid="5" name="MSIP_Label_9c215d82-5bf5-4d07-af41-65de05a9c87a_SetDate">
    <vt:lpwstr>2023-11-22T11:10:02Z</vt:lpwstr>
  </property>
  <property fmtid="{D5CDD505-2E9C-101B-9397-08002B2CF9AE}" pid="6" name="MSIP_Label_9c215d82-5bf5-4d07-af41-65de05a9c87a_Method">
    <vt:lpwstr>Standard</vt:lpwstr>
  </property>
  <property fmtid="{D5CDD505-2E9C-101B-9397-08002B2CF9AE}" pid="7" name="MSIP_Label_9c215d82-5bf5-4d07-af41-65de05a9c87a_Name">
    <vt:lpwstr>Amber</vt:lpwstr>
  </property>
  <property fmtid="{D5CDD505-2E9C-101B-9397-08002B2CF9AE}" pid="8" name="MSIP_Label_9c215d82-5bf5-4d07-af41-65de05a9c87a_SiteId">
    <vt:lpwstr>f66b6bd3-ebc2-4f54-8769-d22858de97c5</vt:lpwstr>
  </property>
  <property fmtid="{D5CDD505-2E9C-101B-9397-08002B2CF9AE}" pid="9" name="MSIP_Label_9c215d82-5bf5-4d07-af41-65de05a9c87a_ActionId">
    <vt:lpwstr>fece236d-a262-4ae1-9700-98fbf5bd7046</vt:lpwstr>
  </property>
  <property fmtid="{D5CDD505-2E9C-101B-9397-08002B2CF9AE}" pid="10" name="MSIP_Label_9c215d82-5bf5-4d07-af41-65de05a9c87a_ContentBits">
    <vt:lpwstr>0</vt:lpwstr>
  </property>
</Properties>
</file>